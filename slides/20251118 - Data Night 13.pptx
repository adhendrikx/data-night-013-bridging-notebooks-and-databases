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7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8.xml" ContentType="application/vnd.openxmlformats-officedocument.theme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  <p:sldMasterId id="2147483700" r:id="rId5"/>
    <p:sldMasterId id="2147483713" r:id="rId6"/>
    <p:sldMasterId id="2147483726" r:id="rId7"/>
    <p:sldMasterId id="2147483739" r:id="rId8"/>
    <p:sldMasterId id="2147483752" r:id="rId9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</p:sldIdLst>
  <p:sldSz cx="12192000" cy="6858000"/>
  <p:notesSz cx="7559675" cy="10691813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3A71"/>
    <a:srgbClr val="3FE0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10" Type="http://schemas.openxmlformats.org/officeDocument/2006/relationships/slide" Target="slides/slide1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nl-NL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nl-NL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nl-NL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nl-NL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nl-NL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nl-NL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4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5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E89E4A4-9E2A-430D-A3A5-AEC0495BDB60}" type="slidenum">
              <a:t>‹nr.›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nl-NL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701A32C-7F43-42FB-9128-F91DFC4CCEB4}" type="slidenum">
              <a:t>‹nr.›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3C5E025-95FD-4656-A1EF-A1BA480A92B2}" type="slidenum">
              <a:t>‹nr.›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17C8A55-C98F-4D79-A672-9C7BBB417486}" type="slidenum">
              <a:t>‹nr.›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6751A79-5BA4-4C85-98BE-534C467CB53D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nl-NL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C6B6DF1-6D38-4895-85D4-54022F1DB3B6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5E3DE3B-5266-411C-A442-CD18334DB26B}" type="slidenum">
              <a:t>‹nr.›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F003404-16C2-4579-9B89-D19B1BF1C2BC}" type="slidenum">
              <a:t>‹nr.›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DF8FBC6F-02D2-4174-BD1C-56D624332B04}" type="slidenum">
              <a:t>‹nr.›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03D2C14-8554-4761-A3D5-83E08A402CA5}" type="slidenum">
              <a:t>‹nr.›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16B894C-CBCA-4670-BA50-079ED9172E43}" type="slidenum">
              <a:t>‹nr.›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0766FB9-D89D-47B5-9372-F42475C00855}" type="slidenum">
              <a:t>‹nr.›</a:t>
            </a:fld>
            <a:endParaRPr/>
          </a:p>
        </p:txBody>
      </p:sp>
      <p:sp>
        <p:nvSpPr>
          <p:cNvPr id="10" name="PlaceHolder 9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nl-NL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nl-NL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nl-NL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nl-NL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5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7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1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2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3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4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nl-NL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nl-NL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92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9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94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95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nl-NL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nl-NL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5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7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8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4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nl-NL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4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nl-NL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5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7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8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w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w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3.wmf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w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5.wmf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3.wmf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2.wmf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image" Target="../media/image3.wmf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1.jpe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50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image" Target="../media/image3.wmf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image" Target="../media/image2.wmf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5" Type="http://schemas.openxmlformats.org/officeDocument/2006/relationships/image" Target="../media/image6.wmf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image" Target="../media/image2.wmf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2" Type="http://schemas.openxmlformats.org/officeDocument/2006/relationships/slideLayout" Target="../slideLayouts/slideLayout74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5" Type="http://schemas.openxmlformats.org/officeDocument/2006/relationships/image" Target="../media/image3.wmf"/><Relationship Id="rId10" Type="http://schemas.openxmlformats.org/officeDocument/2006/relationships/slideLayout" Target="../slideLayouts/slideLayout82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image" Target="../media/image2.wmf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7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86.xml"/><Relationship Id="rId16" Type="http://schemas.openxmlformats.org/officeDocument/2006/relationships/image" Target="../media/image5.wmf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5" Type="http://schemas.openxmlformats.org/officeDocument/2006/relationships/slideLayout" Target="../slideLayouts/slideLayout89.xml"/><Relationship Id="rId15" Type="http://schemas.openxmlformats.org/officeDocument/2006/relationships/image" Target="../media/image3.wmf"/><Relationship Id="rId10" Type="http://schemas.openxmlformats.org/officeDocument/2006/relationships/slideLayout" Target="../slideLayouts/slideLayout94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image" Target="../media/image2.wmf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4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3.xml"/><Relationship Id="rId12" Type="http://schemas.openxmlformats.org/officeDocument/2006/relationships/slideLayout" Target="../slideLayouts/slideLayout108.xml"/><Relationship Id="rId2" Type="http://schemas.openxmlformats.org/officeDocument/2006/relationships/slideLayout" Target="../slideLayouts/slideLayout98.xml"/><Relationship Id="rId1" Type="http://schemas.openxmlformats.org/officeDocument/2006/relationships/slideLayout" Target="../slideLayouts/slideLayout97.xml"/><Relationship Id="rId6" Type="http://schemas.openxmlformats.org/officeDocument/2006/relationships/slideLayout" Target="../slideLayouts/slideLayout102.xml"/><Relationship Id="rId11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101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100.xml"/><Relationship Id="rId9" Type="http://schemas.openxmlformats.org/officeDocument/2006/relationships/slideLayout" Target="../slideLayouts/slideLayout105.xml"/><Relationship Id="rId14" Type="http://schemas.openxmlformats.org/officeDocument/2006/relationships/image" Target="../media/image3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9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blipFill rotWithShape="0">
            <a:blip r:embed="rId14">
              <a:alphaModFix amt="4000"/>
            </a:blip>
            <a:srcRect/>
            <a:stretch/>
          </a:blipFill>
          <a:ln>
            <a:solidFill>
              <a:srgbClr val="0F1A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nl-NL"/>
          </a:p>
        </p:txBody>
      </p:sp>
      <p:pic>
        <p:nvPicPr>
          <p:cNvPr id="6" name="Afbeelding 6"/>
          <p:cNvPicPr/>
          <p:nvPr/>
        </p:nvPicPr>
        <p:blipFill>
          <a:blip r:embed="rId15"/>
          <a:stretch/>
        </p:blipFill>
        <p:spPr>
          <a:xfrm>
            <a:off x="-2988720" y="-1982520"/>
            <a:ext cx="10057680" cy="10040400"/>
          </a:xfrm>
          <a:prstGeom prst="rect">
            <a:avLst/>
          </a:prstGeom>
          <a:ln w="0">
            <a:noFill/>
          </a:ln>
        </p:spPr>
      </p:pic>
      <p:pic>
        <p:nvPicPr>
          <p:cNvPr id="2" name="Afbeelding 1"/>
          <p:cNvPicPr/>
          <p:nvPr/>
        </p:nvPicPr>
        <p:blipFill>
          <a:blip r:embed="rId16"/>
          <a:stretch/>
        </p:blipFill>
        <p:spPr>
          <a:xfrm>
            <a:off x="10662840" y="6218280"/>
            <a:ext cx="1185840" cy="3776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737360" y="2602080"/>
            <a:ext cx="8717040" cy="16531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buNone/>
              <a:tabLst>
                <a:tab pos="0" algn="l"/>
              </a:tabLst>
            </a:pPr>
            <a:r>
              <a:rPr lang="nl-NL" sz="3200" b="0" strike="noStrike" spc="-1">
                <a:solidFill>
                  <a:srgbClr val="FFFFFF"/>
                </a:solidFill>
                <a:latin typeface="Inter Medium"/>
                <a:ea typeface="Inter Medium"/>
              </a:rPr>
              <a:t>Hi there, we’re 1Optic.</a:t>
            </a:r>
            <a:br>
              <a:rPr sz="3200"/>
            </a:br>
            <a:r>
              <a:rPr lang="nl-NL" sz="3200" b="0" strike="noStrike" spc="-1">
                <a:solidFill>
                  <a:srgbClr val="FFFFFF"/>
                </a:solidFill>
                <a:latin typeface="Inter Medium"/>
                <a:ea typeface="Inter Medium"/>
              </a:rPr>
              <a:t>We provide data science for networks.</a:t>
            </a:r>
            <a:endParaRPr lang="nl-NL" sz="32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2800" b="0" strike="noStrike" spc="-1">
                <a:solidFill>
                  <a:srgbClr val="000000"/>
                </a:solidFill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nl-NL" sz="2000" b="0" strike="noStrike" spc="-1">
                <a:solidFill>
                  <a:srgbClr val="000000"/>
                </a:solidFill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1800" b="0" strike="noStrike" spc="-1">
                <a:solidFill>
                  <a:srgbClr val="000000"/>
                </a:solidFill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nl-NL" sz="1800" b="0" strike="noStrike" spc="-1">
                <a:solidFill>
                  <a:srgbClr val="000000"/>
                </a:solidFill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2000" b="0" strike="noStrike" spc="-1">
                <a:solidFill>
                  <a:srgbClr val="000000"/>
                </a:solidFill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2000" b="0" strike="noStrike" spc="-1">
                <a:solidFill>
                  <a:srgbClr val="000000"/>
                </a:solidFill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2000" b="0" strike="noStrike" spc="-1">
                <a:solidFill>
                  <a:srgbClr val="000000"/>
                </a:solidFill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9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Afbeelding 6"/>
          <p:cNvPicPr/>
          <p:nvPr/>
        </p:nvPicPr>
        <p:blipFill>
          <a:blip r:embed="rId14"/>
          <a:stretch/>
        </p:blipFill>
        <p:spPr>
          <a:xfrm rot="7096200">
            <a:off x="9824040" y="-2647080"/>
            <a:ext cx="6244920" cy="6234120"/>
          </a:xfrm>
          <a:prstGeom prst="rect">
            <a:avLst/>
          </a:prstGeom>
          <a:ln w="0">
            <a:noFill/>
          </a:ln>
        </p:spPr>
      </p:pic>
      <p:pic>
        <p:nvPicPr>
          <p:cNvPr id="42" name="Afbeelding 7"/>
          <p:cNvPicPr/>
          <p:nvPr/>
        </p:nvPicPr>
        <p:blipFill>
          <a:blip r:embed="rId15"/>
          <a:stretch/>
        </p:blipFill>
        <p:spPr>
          <a:xfrm>
            <a:off x="10662840" y="6218280"/>
            <a:ext cx="1185840" cy="377640"/>
          </a:xfrm>
          <a:prstGeom prst="rect">
            <a:avLst/>
          </a:prstGeom>
          <a:ln w="0">
            <a:noFill/>
          </a:ln>
        </p:spPr>
      </p:pic>
      <p:sp>
        <p:nvSpPr>
          <p:cNvPr id="43" name="Rechthoek 3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blipFill rotWithShape="0">
            <a:blip r:embed="rId16">
              <a:alphaModFix amt="2000"/>
            </a:blip>
            <a:srcRect/>
            <a:stretch/>
          </a:blipFill>
          <a:ln>
            <a:solidFill>
              <a:srgbClr val="0F1A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nl-NL"/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45760" y="1080720"/>
            <a:ext cx="8583840" cy="11124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nl-NL" sz="2800" b="0" strike="noStrike" spc="-1">
                <a:solidFill>
                  <a:srgbClr val="FFFFFF"/>
                </a:solidFill>
                <a:latin typeface="Inter Medium"/>
                <a:ea typeface="Inter Medium"/>
              </a:rPr>
              <a:t>Korte titel hier.</a:t>
            </a: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45" name="Tijdelijke aanduiding voor titel 1"/>
          <p:cNvSpPr/>
          <p:nvPr/>
        </p:nvSpPr>
        <p:spPr>
          <a:xfrm>
            <a:off x="545760" y="1636920"/>
            <a:ext cx="4969800" cy="445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nl-NL"/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546120" y="2404080"/>
            <a:ext cx="8583480" cy="3686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25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nl-NL" sz="1500" b="0" strike="noStrike" spc="-1">
                <a:solidFill>
                  <a:srgbClr val="FFFFFF"/>
                </a:solidFill>
                <a:latin typeface="Inter"/>
                <a:ea typeface="Inter"/>
              </a:rPr>
              <a:t>Klikken om de tekststijl van het model te bewerken</a:t>
            </a:r>
            <a:endParaRPr lang="nl-NL" sz="1500" b="0" strike="noStrike" spc="-1">
              <a:solidFill>
                <a:srgbClr val="000000"/>
              </a:solidFill>
              <a:latin typeface="Aptos"/>
            </a:endParaRPr>
          </a:p>
          <a:p>
            <a:pPr marL="685800" lvl="1" indent="-228600">
              <a:lnSpc>
                <a:spcPct val="125000"/>
              </a:lnSpc>
              <a:spcBef>
                <a:spcPts val="499"/>
              </a:spcBef>
              <a:buSzPct val="100000"/>
              <a:buBlip>
                <a:blip r:embed="rId17"/>
              </a:buBlip>
              <a:tabLst>
                <a:tab pos="0" algn="l"/>
              </a:tabLst>
            </a:pPr>
            <a:r>
              <a:rPr lang="nl-NL" sz="1500" b="0" strike="noStrike" spc="-1">
                <a:solidFill>
                  <a:srgbClr val="FFFFFF"/>
                </a:solidFill>
                <a:latin typeface="Inter"/>
                <a:ea typeface="Inter"/>
              </a:rPr>
              <a:t>Tweede niveau</a:t>
            </a:r>
            <a:endParaRPr lang="nl-NL" sz="1500" b="0" strike="noStrike" spc="-1">
              <a:solidFill>
                <a:srgbClr val="000000"/>
              </a:solidFill>
              <a:latin typeface="Aptos"/>
            </a:endParaRPr>
          </a:p>
          <a:p>
            <a:pPr marL="1143000" lvl="2" indent="-228600">
              <a:lnSpc>
                <a:spcPct val="125000"/>
              </a:lnSpc>
              <a:spcBef>
                <a:spcPts val="499"/>
              </a:spcBef>
              <a:buSzPct val="100000"/>
              <a:buBlip>
                <a:blip r:embed="rId17"/>
              </a:buBlip>
              <a:tabLst>
                <a:tab pos="0" algn="l"/>
              </a:tabLst>
            </a:pPr>
            <a:r>
              <a:rPr lang="nl-NL" sz="1500" b="0" strike="noStrike" spc="-1">
                <a:solidFill>
                  <a:srgbClr val="FFFFFF"/>
                </a:solidFill>
                <a:latin typeface="Inter"/>
                <a:ea typeface="Inter"/>
              </a:rPr>
              <a:t>Derde niveau</a:t>
            </a:r>
            <a:endParaRPr lang="nl-NL" sz="1500" b="0" strike="noStrike" spc="-1">
              <a:solidFill>
                <a:srgbClr val="000000"/>
              </a:solidFill>
              <a:latin typeface="Aptos"/>
            </a:endParaRPr>
          </a:p>
          <a:p>
            <a:pPr marL="1600200" lvl="3" indent="-228600">
              <a:lnSpc>
                <a:spcPct val="125000"/>
              </a:lnSpc>
              <a:spcBef>
                <a:spcPts val="499"/>
              </a:spcBef>
              <a:buSzPct val="100000"/>
              <a:buBlip>
                <a:blip r:embed="rId17"/>
              </a:buBlip>
              <a:tabLst>
                <a:tab pos="0" algn="l"/>
              </a:tabLst>
            </a:pPr>
            <a:r>
              <a:rPr lang="nl-NL" sz="1500" b="0" strike="noStrike" spc="-1">
                <a:solidFill>
                  <a:srgbClr val="FFFFFF"/>
                </a:solidFill>
                <a:latin typeface="Inter"/>
                <a:ea typeface="Inter"/>
              </a:rPr>
              <a:t>Vierde niveau</a:t>
            </a:r>
            <a:endParaRPr lang="nl-NL" sz="1500" b="0" strike="noStrike" spc="-1">
              <a:solidFill>
                <a:srgbClr val="000000"/>
              </a:solidFill>
              <a:latin typeface="Aptos"/>
            </a:endParaRPr>
          </a:p>
          <a:p>
            <a:pPr marL="2057400" lvl="4" indent="-228600">
              <a:lnSpc>
                <a:spcPct val="125000"/>
              </a:lnSpc>
              <a:spcBef>
                <a:spcPts val="499"/>
              </a:spcBef>
              <a:buSzPct val="100000"/>
              <a:buBlip>
                <a:blip r:embed="rId17"/>
              </a:buBlip>
              <a:tabLst>
                <a:tab pos="0" algn="l"/>
              </a:tabLst>
            </a:pPr>
            <a:r>
              <a:rPr lang="nl-NL" sz="1500" b="0" strike="noStrike" spc="-1">
                <a:solidFill>
                  <a:srgbClr val="FFFFFF"/>
                </a:solidFill>
                <a:latin typeface="Inter"/>
                <a:ea typeface="Inter"/>
              </a:rPr>
              <a:t>Vijfde niveau</a:t>
            </a:r>
            <a:endParaRPr lang="nl-NL" sz="15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9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Afbeelding 11"/>
          <p:cNvPicPr/>
          <p:nvPr/>
        </p:nvPicPr>
        <p:blipFill>
          <a:blip r:embed="rId14"/>
          <a:stretch/>
        </p:blipFill>
        <p:spPr>
          <a:xfrm>
            <a:off x="-3284640" y="-720000"/>
            <a:ext cx="8312040" cy="8298000"/>
          </a:xfrm>
          <a:prstGeom prst="rect">
            <a:avLst/>
          </a:prstGeom>
          <a:ln w="0">
            <a:noFill/>
          </a:ln>
        </p:spPr>
      </p:pic>
      <p:pic>
        <p:nvPicPr>
          <p:cNvPr id="84" name="Afbeelding 7"/>
          <p:cNvPicPr/>
          <p:nvPr/>
        </p:nvPicPr>
        <p:blipFill>
          <a:blip r:embed="rId15"/>
          <a:stretch/>
        </p:blipFill>
        <p:spPr>
          <a:xfrm>
            <a:off x="10662840" y="6218280"/>
            <a:ext cx="1185840" cy="377640"/>
          </a:xfrm>
          <a:prstGeom prst="rect">
            <a:avLst/>
          </a:prstGeom>
          <a:ln w="0">
            <a:noFill/>
          </a:ln>
        </p:spPr>
      </p:pic>
      <p:pic>
        <p:nvPicPr>
          <p:cNvPr id="85" name="Afbeelding 2"/>
          <p:cNvPicPr/>
          <p:nvPr/>
        </p:nvPicPr>
        <p:blipFill>
          <a:blip r:embed="rId16"/>
          <a:stretch/>
        </p:blipFill>
        <p:spPr>
          <a:xfrm>
            <a:off x="871560" y="789840"/>
            <a:ext cx="10448640" cy="4860720"/>
          </a:xfrm>
          <a:prstGeom prst="rect">
            <a:avLst/>
          </a:prstGeom>
          <a:ln w="0">
            <a:noFill/>
          </a:ln>
        </p:spPr>
      </p:pic>
      <p:sp>
        <p:nvSpPr>
          <p:cNvPr id="86" name="Rechthoek 1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blipFill rotWithShape="0">
            <a:blip r:embed="rId17">
              <a:alphaModFix amt="2000"/>
            </a:blip>
            <a:srcRect/>
            <a:stretch/>
          </a:blipFill>
          <a:ln>
            <a:solidFill>
              <a:srgbClr val="0F1A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nl-NL"/>
          </a:p>
        </p:txBody>
      </p: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400400" y="1309320"/>
            <a:ext cx="9521280" cy="769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nl-NL" sz="2800" b="0" strike="noStrike" spc="-1">
                <a:solidFill>
                  <a:srgbClr val="050921"/>
                </a:solidFill>
                <a:latin typeface="Inter Medium"/>
                <a:ea typeface="Inter Medium"/>
              </a:rPr>
              <a:t>Korte titel hier.</a:t>
            </a: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88" name="Tijdelijke aanduiding voor titel 1"/>
          <p:cNvSpPr/>
          <p:nvPr/>
        </p:nvSpPr>
        <p:spPr>
          <a:xfrm>
            <a:off x="545760" y="1636920"/>
            <a:ext cx="4969800" cy="445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nl-NL"/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1400400" y="2224080"/>
            <a:ext cx="9522000" cy="2901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nl-NL" sz="1500" b="0" strike="noStrike" spc="-1">
                <a:solidFill>
                  <a:srgbClr val="575757"/>
                </a:solidFill>
                <a:latin typeface="Inter"/>
                <a:ea typeface="Inter"/>
              </a:rPr>
              <a:t>Klikken om de tekststijl van het model te bewerken</a:t>
            </a:r>
            <a:endParaRPr lang="nl-NL" sz="15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921">
            <a:alpha val="97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hthoek 9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blipFill rotWithShape="0">
            <a:blip r:embed="rId14">
              <a:alphaModFix amt="3000"/>
            </a:blip>
            <a:srcRect/>
            <a:stretch/>
          </a:blipFill>
          <a:ln>
            <a:solidFill>
              <a:srgbClr val="0F1A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nl-NL"/>
          </a:p>
        </p:txBody>
      </p:sp>
      <p:pic>
        <p:nvPicPr>
          <p:cNvPr id="127" name="Afbeelding 7"/>
          <p:cNvPicPr/>
          <p:nvPr/>
        </p:nvPicPr>
        <p:blipFill>
          <a:blip r:embed="rId15"/>
          <a:stretch/>
        </p:blipFill>
        <p:spPr>
          <a:xfrm>
            <a:off x="5227920" y="3152520"/>
            <a:ext cx="1736280" cy="552960"/>
          </a:xfrm>
          <a:prstGeom prst="rect">
            <a:avLst/>
          </a:prstGeom>
          <a:ln w="0">
            <a:noFill/>
          </a:ln>
        </p:spPr>
      </p:pic>
      <p:sp>
        <p:nvSpPr>
          <p:cNvPr id="128" name="PlaceHolder 1"/>
          <p:cNvSpPr>
            <a:spLocks noGrp="1"/>
          </p:cNvSpPr>
          <p:nvPr>
            <p:ph type="dt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90000" rIns="90000" bIns="90000" anchor="t">
            <a:noAutofit/>
          </a:bodyPr>
          <a:lstStyle>
            <a:lvl1pPr>
              <a:defRPr lang="nl-NL" sz="1400" b="0" strike="noStrike" spc="-1">
                <a:latin typeface="Times New Roman"/>
              </a:defRPr>
            </a:lvl1pPr>
          </a:lstStyle>
          <a:p>
            <a:r>
              <a:rPr lang="nl-NL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129" name="PlaceHolder 2"/>
          <p:cNvSpPr>
            <a:spLocks noGrp="1"/>
          </p:cNvSpPr>
          <p:nvPr>
            <p:ph type="sldNum" idx="2"/>
          </p:nvPr>
        </p:nvSpPr>
        <p:spPr>
          <a:xfrm>
            <a:off x="-29520" y="-29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90000" rIns="90000" bIns="90000" anchor="t">
            <a:noAutofit/>
          </a:bodyPr>
          <a:lstStyle>
            <a:lvl1pPr>
              <a:defRPr lang="nl-NL" sz="2400" b="0" strike="noStrike" spc="-1">
                <a:latin typeface="Times New Roman"/>
              </a:defRPr>
            </a:lvl1pPr>
          </a:lstStyle>
          <a:p>
            <a:endParaRPr lang="nl-NL" sz="2400" b="0" strike="noStrike" spc="-1">
              <a:latin typeface="Times New Roman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nl-NL" sz="1800" b="0" strike="noStrike" spc="-1">
                <a:solidFill>
                  <a:srgbClr val="000000"/>
                </a:solidFill>
                <a:latin typeface="Aptos"/>
              </a:rPr>
              <a:t>Click to edit the title text format</a:t>
            </a:r>
          </a:p>
        </p:txBody>
      </p:sp>
      <p:sp>
        <p:nvSpPr>
          <p:cNvPr id="131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2800" b="0" strike="noStrike" spc="-1">
                <a:solidFill>
                  <a:srgbClr val="000000"/>
                </a:solidFill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nl-NL" sz="2000" b="0" strike="noStrike" spc="-1">
                <a:solidFill>
                  <a:srgbClr val="000000"/>
                </a:solidFill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1800" b="0" strike="noStrike" spc="-1">
                <a:solidFill>
                  <a:srgbClr val="000000"/>
                </a:solidFill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nl-NL" sz="1800" b="0" strike="noStrike" spc="-1">
                <a:solidFill>
                  <a:srgbClr val="000000"/>
                </a:solidFill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2000" b="0" strike="noStrike" spc="-1">
                <a:solidFill>
                  <a:srgbClr val="000000"/>
                </a:solidFill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2000" b="0" strike="noStrike" spc="-1">
                <a:solidFill>
                  <a:srgbClr val="000000"/>
                </a:solidFill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2000" b="0" strike="noStrike" spc="-1">
                <a:solidFill>
                  <a:srgbClr val="000000"/>
                </a:solidFill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9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Afbeelding 6"/>
          <p:cNvPicPr/>
          <p:nvPr/>
        </p:nvPicPr>
        <p:blipFill>
          <a:blip r:embed="rId14"/>
          <a:stretch/>
        </p:blipFill>
        <p:spPr>
          <a:xfrm rot="7096200">
            <a:off x="9824040" y="-2647080"/>
            <a:ext cx="6244920" cy="6234120"/>
          </a:xfrm>
          <a:prstGeom prst="rect">
            <a:avLst/>
          </a:prstGeom>
          <a:ln w="0">
            <a:noFill/>
          </a:ln>
        </p:spPr>
      </p:pic>
      <p:pic>
        <p:nvPicPr>
          <p:cNvPr id="169" name="Afbeelding 7"/>
          <p:cNvPicPr/>
          <p:nvPr/>
        </p:nvPicPr>
        <p:blipFill>
          <a:blip r:embed="rId15"/>
          <a:stretch/>
        </p:blipFill>
        <p:spPr>
          <a:xfrm>
            <a:off x="10662840" y="6218280"/>
            <a:ext cx="1185840" cy="377640"/>
          </a:xfrm>
          <a:prstGeom prst="rect">
            <a:avLst/>
          </a:prstGeom>
          <a:ln w="0">
            <a:noFill/>
          </a:ln>
        </p:spPr>
      </p:pic>
      <p:sp>
        <p:nvSpPr>
          <p:cNvPr id="170" name="Rechthoek 1"/>
          <p:cNvSpPr/>
          <p:nvPr/>
        </p:nvSpPr>
        <p:spPr>
          <a:xfrm>
            <a:off x="0" y="0"/>
            <a:ext cx="609552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nl-NL"/>
          </a:p>
        </p:txBody>
      </p:sp>
      <p:sp>
        <p:nvSpPr>
          <p:cNvPr id="171" name="Rechthoek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blipFill rotWithShape="0">
            <a:blip r:embed="rId16">
              <a:alphaModFix amt="2000"/>
            </a:blip>
            <a:srcRect/>
            <a:stretch/>
          </a:blipFill>
          <a:ln>
            <a:solidFill>
              <a:srgbClr val="0F1A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nl-NL"/>
          </a:p>
        </p:txBody>
      </p:sp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545760" y="1080720"/>
            <a:ext cx="4969800" cy="11124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nl-NL" sz="2800" b="0" strike="noStrike" spc="-1">
                <a:solidFill>
                  <a:srgbClr val="050921"/>
                </a:solidFill>
                <a:latin typeface="Inter Medium"/>
                <a:ea typeface="Inter Medium"/>
              </a:rPr>
              <a:t>Korte titel hier.</a:t>
            </a: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3" name="Tijdelijke aanduiding voor titel 1"/>
          <p:cNvSpPr/>
          <p:nvPr/>
        </p:nvSpPr>
        <p:spPr>
          <a:xfrm>
            <a:off x="545760" y="1636920"/>
            <a:ext cx="4969800" cy="445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nl-NL"/>
          </a:p>
        </p:txBody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5703840" y="1080720"/>
            <a:ext cx="7425360" cy="5010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1800" b="0" strike="noStrike" spc="-1">
                <a:solidFill>
                  <a:srgbClr val="000000"/>
                </a:solidFill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nl-NL" sz="1800" b="0" strike="noStrike" spc="-1">
                <a:solidFill>
                  <a:srgbClr val="000000"/>
                </a:solidFill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1800" b="0" strike="noStrike" spc="-1">
                <a:solidFill>
                  <a:srgbClr val="000000"/>
                </a:solidFill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nl-NL" sz="1800" b="0" strike="noStrike" spc="-1">
                <a:solidFill>
                  <a:srgbClr val="000000"/>
                </a:solidFill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1800" b="0" strike="noStrike" spc="-1">
                <a:solidFill>
                  <a:srgbClr val="000000"/>
                </a:solidFill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1800" b="0" strike="noStrike" spc="-1">
                <a:solidFill>
                  <a:srgbClr val="000000"/>
                </a:solidFill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1800" b="0" strike="noStrike" spc="-1">
                <a:solidFill>
                  <a:srgbClr val="000000"/>
                </a:solidFill>
                <a:latin typeface="Aptos"/>
              </a:rPr>
              <a:t>Seventh Outline Level</a:t>
            </a:r>
          </a:p>
        </p:txBody>
      </p:sp>
      <p:sp>
        <p:nvSpPr>
          <p:cNvPr id="175" name="PlaceHolder 3"/>
          <p:cNvSpPr>
            <a:spLocks noGrp="1"/>
          </p:cNvSpPr>
          <p:nvPr>
            <p:ph type="body"/>
          </p:nvPr>
        </p:nvSpPr>
        <p:spPr>
          <a:xfrm>
            <a:off x="546120" y="2404080"/>
            <a:ext cx="4970160" cy="3686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25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nl-NL" sz="1500" b="0" strike="noStrike" spc="-1">
                <a:solidFill>
                  <a:srgbClr val="575757"/>
                </a:solidFill>
                <a:latin typeface="Inter"/>
                <a:ea typeface="Inter"/>
              </a:rPr>
              <a:t>Klikken om de tekststijl van het model te bewerken</a:t>
            </a:r>
            <a:endParaRPr lang="nl-NL" sz="1500" b="0" strike="noStrike" spc="-1">
              <a:solidFill>
                <a:srgbClr val="000000"/>
              </a:solidFill>
              <a:latin typeface="Aptos"/>
            </a:endParaRPr>
          </a:p>
          <a:p>
            <a:pPr marL="685800" lvl="1" indent="-228600">
              <a:lnSpc>
                <a:spcPct val="125000"/>
              </a:lnSpc>
              <a:spcBef>
                <a:spcPts val="499"/>
              </a:spcBef>
              <a:buSzPct val="100000"/>
              <a:buBlip>
                <a:blip r:embed="rId17"/>
              </a:buBlip>
              <a:tabLst>
                <a:tab pos="0" algn="l"/>
              </a:tabLst>
            </a:pPr>
            <a:r>
              <a:rPr lang="nl-NL" sz="1500" b="0" strike="noStrike" spc="-1">
                <a:solidFill>
                  <a:srgbClr val="575757"/>
                </a:solidFill>
                <a:latin typeface="Inter"/>
                <a:ea typeface="Inter"/>
              </a:rPr>
              <a:t>Tweede niveau</a:t>
            </a:r>
            <a:endParaRPr lang="nl-NL" sz="1500" b="0" strike="noStrike" spc="-1">
              <a:solidFill>
                <a:srgbClr val="000000"/>
              </a:solidFill>
              <a:latin typeface="Aptos"/>
            </a:endParaRPr>
          </a:p>
          <a:p>
            <a:pPr marL="1143000" lvl="2" indent="-228600">
              <a:lnSpc>
                <a:spcPct val="125000"/>
              </a:lnSpc>
              <a:spcBef>
                <a:spcPts val="499"/>
              </a:spcBef>
              <a:buSzPct val="100000"/>
              <a:buBlip>
                <a:blip r:embed="rId17"/>
              </a:buBlip>
              <a:tabLst>
                <a:tab pos="0" algn="l"/>
              </a:tabLst>
            </a:pPr>
            <a:r>
              <a:rPr lang="nl-NL" sz="1500" b="0" strike="noStrike" spc="-1">
                <a:solidFill>
                  <a:srgbClr val="575757"/>
                </a:solidFill>
                <a:latin typeface="Inter"/>
                <a:ea typeface="Inter"/>
              </a:rPr>
              <a:t>Derde niveau</a:t>
            </a:r>
            <a:endParaRPr lang="nl-NL" sz="1500" b="0" strike="noStrike" spc="-1">
              <a:solidFill>
                <a:srgbClr val="000000"/>
              </a:solidFill>
              <a:latin typeface="Aptos"/>
            </a:endParaRPr>
          </a:p>
          <a:p>
            <a:pPr marL="1600200" lvl="3" indent="-228600">
              <a:lnSpc>
                <a:spcPct val="125000"/>
              </a:lnSpc>
              <a:spcBef>
                <a:spcPts val="499"/>
              </a:spcBef>
              <a:buSzPct val="100000"/>
              <a:buBlip>
                <a:blip r:embed="rId17"/>
              </a:buBlip>
              <a:tabLst>
                <a:tab pos="0" algn="l"/>
              </a:tabLst>
            </a:pPr>
            <a:r>
              <a:rPr lang="nl-NL" sz="1500" b="0" strike="noStrike" spc="-1">
                <a:solidFill>
                  <a:srgbClr val="575757"/>
                </a:solidFill>
                <a:latin typeface="Inter"/>
                <a:ea typeface="Inter"/>
              </a:rPr>
              <a:t>Vierde niveau</a:t>
            </a:r>
            <a:endParaRPr lang="nl-NL" sz="1500" b="0" strike="noStrike" spc="-1">
              <a:solidFill>
                <a:srgbClr val="000000"/>
              </a:solidFill>
              <a:latin typeface="Aptos"/>
            </a:endParaRPr>
          </a:p>
          <a:p>
            <a:pPr marL="2057400" lvl="4" indent="-228600">
              <a:lnSpc>
                <a:spcPct val="125000"/>
              </a:lnSpc>
              <a:spcBef>
                <a:spcPts val="499"/>
              </a:spcBef>
              <a:buSzPct val="100000"/>
              <a:buBlip>
                <a:blip r:embed="rId17"/>
              </a:buBlip>
              <a:tabLst>
                <a:tab pos="0" algn="l"/>
              </a:tabLst>
            </a:pPr>
            <a:r>
              <a:rPr lang="nl-NL" sz="1500" b="0" strike="noStrike" spc="-1">
                <a:solidFill>
                  <a:srgbClr val="575757"/>
                </a:solidFill>
                <a:latin typeface="Inter"/>
                <a:ea typeface="Inter"/>
              </a:rPr>
              <a:t>Vijfde niveau</a:t>
            </a:r>
            <a:endParaRPr lang="nl-NL" sz="15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Afbeelding 6"/>
          <p:cNvPicPr/>
          <p:nvPr/>
        </p:nvPicPr>
        <p:blipFill>
          <a:blip r:embed="rId14"/>
          <a:stretch/>
        </p:blipFill>
        <p:spPr>
          <a:xfrm rot="7096200">
            <a:off x="9824040" y="-2647080"/>
            <a:ext cx="6244920" cy="6234120"/>
          </a:xfrm>
          <a:prstGeom prst="rect">
            <a:avLst/>
          </a:prstGeom>
          <a:ln w="0">
            <a:noFill/>
          </a:ln>
        </p:spPr>
      </p:pic>
      <p:sp>
        <p:nvSpPr>
          <p:cNvPr id="213" name="Rechthoek 1"/>
          <p:cNvSpPr/>
          <p:nvPr/>
        </p:nvSpPr>
        <p:spPr>
          <a:xfrm>
            <a:off x="0" y="0"/>
            <a:ext cx="609552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nl-NL"/>
          </a:p>
        </p:txBody>
      </p:sp>
      <p:pic>
        <p:nvPicPr>
          <p:cNvPr id="214" name="Afbeelding 4"/>
          <p:cNvPicPr/>
          <p:nvPr/>
        </p:nvPicPr>
        <p:blipFill>
          <a:blip r:embed="rId15"/>
          <a:stretch/>
        </p:blipFill>
        <p:spPr>
          <a:xfrm>
            <a:off x="10647000" y="6218280"/>
            <a:ext cx="1216800" cy="387360"/>
          </a:xfrm>
          <a:prstGeom prst="rect">
            <a:avLst/>
          </a:prstGeom>
          <a:ln w="0">
            <a:noFill/>
          </a:ln>
        </p:spPr>
      </p:pic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545760" y="1080720"/>
            <a:ext cx="4969800" cy="11124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nl-NL" sz="2800" b="0" strike="noStrike" spc="-1">
                <a:solidFill>
                  <a:srgbClr val="050921"/>
                </a:solidFill>
                <a:latin typeface="Inter Medium"/>
                <a:ea typeface="Inter Medium"/>
              </a:rPr>
              <a:t>Korte titel hier.</a:t>
            </a: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6" name="Tijdelijke aanduiding voor titel 1"/>
          <p:cNvSpPr/>
          <p:nvPr/>
        </p:nvSpPr>
        <p:spPr>
          <a:xfrm>
            <a:off x="545760" y="1636920"/>
            <a:ext cx="4969800" cy="445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nl-NL"/>
          </a:p>
        </p:txBody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546120" y="2404080"/>
            <a:ext cx="4970160" cy="3686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25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nl-NL" sz="1500" b="0" strike="noStrike" spc="-1">
                <a:solidFill>
                  <a:srgbClr val="575757"/>
                </a:solidFill>
                <a:latin typeface="Inter"/>
                <a:ea typeface="Inter"/>
              </a:rPr>
              <a:t>Klikken om de tekststijl van het model te bewerken</a:t>
            </a:r>
            <a:endParaRPr lang="nl-NL" sz="1500" b="0" strike="noStrike" spc="-1">
              <a:solidFill>
                <a:srgbClr val="000000"/>
              </a:solidFill>
              <a:latin typeface="Aptos"/>
            </a:endParaRPr>
          </a:p>
          <a:p>
            <a:pPr marL="685800" lvl="1" indent="-228600">
              <a:lnSpc>
                <a:spcPct val="125000"/>
              </a:lnSpc>
              <a:spcBef>
                <a:spcPts val="499"/>
              </a:spcBef>
              <a:buSzPct val="100000"/>
              <a:buBlip>
                <a:blip r:embed="rId16"/>
              </a:buBlip>
              <a:tabLst>
                <a:tab pos="0" algn="l"/>
              </a:tabLst>
            </a:pPr>
            <a:r>
              <a:rPr lang="nl-NL" sz="1500" b="0" strike="noStrike" spc="-1">
                <a:solidFill>
                  <a:srgbClr val="575757"/>
                </a:solidFill>
                <a:latin typeface="Inter"/>
                <a:ea typeface="Inter"/>
              </a:rPr>
              <a:t>Tweede niveau</a:t>
            </a:r>
            <a:endParaRPr lang="nl-NL" sz="1500" b="0" strike="noStrike" spc="-1">
              <a:solidFill>
                <a:srgbClr val="000000"/>
              </a:solidFill>
              <a:latin typeface="Aptos"/>
            </a:endParaRPr>
          </a:p>
          <a:p>
            <a:pPr marL="1143000" lvl="2" indent="-228600">
              <a:lnSpc>
                <a:spcPct val="125000"/>
              </a:lnSpc>
              <a:spcBef>
                <a:spcPts val="499"/>
              </a:spcBef>
              <a:buSzPct val="100000"/>
              <a:buBlip>
                <a:blip r:embed="rId16"/>
              </a:buBlip>
              <a:tabLst>
                <a:tab pos="0" algn="l"/>
              </a:tabLst>
            </a:pPr>
            <a:r>
              <a:rPr lang="nl-NL" sz="1500" b="0" strike="noStrike" spc="-1">
                <a:solidFill>
                  <a:srgbClr val="575757"/>
                </a:solidFill>
                <a:latin typeface="Inter"/>
                <a:ea typeface="Inter"/>
              </a:rPr>
              <a:t>Derde niveau</a:t>
            </a:r>
            <a:endParaRPr lang="nl-NL" sz="1500" b="0" strike="noStrike" spc="-1">
              <a:solidFill>
                <a:srgbClr val="000000"/>
              </a:solidFill>
              <a:latin typeface="Aptos"/>
            </a:endParaRPr>
          </a:p>
          <a:p>
            <a:pPr marL="1600200" lvl="3" indent="-228600">
              <a:lnSpc>
                <a:spcPct val="125000"/>
              </a:lnSpc>
              <a:spcBef>
                <a:spcPts val="499"/>
              </a:spcBef>
              <a:buSzPct val="100000"/>
              <a:buBlip>
                <a:blip r:embed="rId16"/>
              </a:buBlip>
              <a:tabLst>
                <a:tab pos="0" algn="l"/>
              </a:tabLst>
            </a:pPr>
            <a:r>
              <a:rPr lang="nl-NL" sz="1500" b="0" strike="noStrike" spc="-1">
                <a:solidFill>
                  <a:srgbClr val="575757"/>
                </a:solidFill>
                <a:latin typeface="Inter"/>
                <a:ea typeface="Inter"/>
              </a:rPr>
              <a:t>Vierde niveau</a:t>
            </a:r>
            <a:endParaRPr lang="nl-NL" sz="1500" b="0" strike="noStrike" spc="-1">
              <a:solidFill>
                <a:srgbClr val="000000"/>
              </a:solidFill>
              <a:latin typeface="Aptos"/>
            </a:endParaRPr>
          </a:p>
          <a:p>
            <a:pPr marL="2057400" lvl="4" indent="-228600">
              <a:lnSpc>
                <a:spcPct val="125000"/>
              </a:lnSpc>
              <a:spcBef>
                <a:spcPts val="499"/>
              </a:spcBef>
              <a:buSzPct val="100000"/>
              <a:buBlip>
                <a:blip r:embed="rId16"/>
              </a:buBlip>
              <a:tabLst>
                <a:tab pos="0" algn="l"/>
              </a:tabLst>
            </a:pPr>
            <a:r>
              <a:rPr lang="nl-NL" sz="1500" b="0" strike="noStrike" spc="-1">
                <a:solidFill>
                  <a:srgbClr val="575757"/>
                </a:solidFill>
                <a:latin typeface="Inter"/>
                <a:ea typeface="Inter"/>
              </a:rPr>
              <a:t>Vijfde niveau</a:t>
            </a:r>
            <a:endParaRPr lang="nl-NL" sz="15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body"/>
          </p:nvPr>
        </p:nvSpPr>
        <p:spPr>
          <a:xfrm>
            <a:off x="5703840" y="1080720"/>
            <a:ext cx="7425360" cy="5010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800" b="0" strike="noStrike" spc="-1">
                <a:solidFill>
                  <a:srgbClr val="000000"/>
                </a:solidFill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1800" b="0" strike="noStrike" spc="-1">
                <a:solidFill>
                  <a:srgbClr val="000000"/>
                </a:solidFill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800" b="0" strike="noStrike" spc="-1">
                <a:solidFill>
                  <a:srgbClr val="000000"/>
                </a:solidFill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1800" b="0" strike="noStrike" spc="-1">
                <a:solidFill>
                  <a:srgbClr val="000000"/>
                </a:solidFill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800" b="0" strike="noStrike" spc="-1">
                <a:solidFill>
                  <a:srgbClr val="000000"/>
                </a:solidFill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800" b="0" strike="noStrike" spc="-1">
                <a:solidFill>
                  <a:srgbClr val="000000"/>
                </a:solidFill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800" b="0" strike="noStrike" spc="-1">
                <a:solidFill>
                  <a:srgbClr val="000000"/>
                </a:solidFill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9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Afbeelding 6"/>
          <p:cNvPicPr/>
          <p:nvPr/>
        </p:nvPicPr>
        <p:blipFill>
          <a:blip r:embed="rId14"/>
          <a:stretch/>
        </p:blipFill>
        <p:spPr>
          <a:xfrm rot="9900000">
            <a:off x="6986880" y="272160"/>
            <a:ext cx="11063520" cy="11044440"/>
          </a:xfrm>
          <a:prstGeom prst="rect">
            <a:avLst/>
          </a:prstGeom>
          <a:ln w="0">
            <a:noFill/>
          </a:ln>
        </p:spPr>
      </p:pic>
      <p:pic>
        <p:nvPicPr>
          <p:cNvPr id="256" name="Afbeelding 1"/>
          <p:cNvPicPr/>
          <p:nvPr/>
        </p:nvPicPr>
        <p:blipFill>
          <a:blip r:embed="rId15"/>
          <a:stretch/>
        </p:blipFill>
        <p:spPr>
          <a:xfrm>
            <a:off x="10662840" y="6218280"/>
            <a:ext cx="1185840" cy="377640"/>
          </a:xfrm>
          <a:prstGeom prst="rect">
            <a:avLst/>
          </a:prstGeom>
          <a:ln w="0">
            <a:noFill/>
          </a:ln>
        </p:spPr>
      </p:pic>
      <p:sp>
        <p:nvSpPr>
          <p:cNvPr id="257" name="Rechthoek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blipFill rotWithShape="0">
            <a:blip r:embed="rId16">
              <a:alphaModFix amt="2000"/>
            </a:blip>
            <a:srcRect/>
            <a:stretch/>
          </a:blipFill>
          <a:ln>
            <a:solidFill>
              <a:srgbClr val="0F1A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nl-NL"/>
          </a:p>
        </p:txBody>
      </p:sp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1737360" y="2766240"/>
            <a:ext cx="87170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25000"/>
              </a:lnSpc>
              <a:buNone/>
            </a:pPr>
            <a:r>
              <a:rPr lang="nl-NL" sz="3600" b="1" strike="noStrike" spc="-1">
                <a:solidFill>
                  <a:srgbClr val="FFFFFF"/>
                </a:solidFill>
                <a:latin typeface="Inter SemiBold"/>
                <a:ea typeface="Inter SemiBold"/>
              </a:rPr>
              <a:t>Data science for networks.</a:t>
            </a:r>
            <a:endParaRPr lang="nl-NL" sz="36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2800" b="0" strike="noStrike" spc="-1">
                <a:solidFill>
                  <a:srgbClr val="000000"/>
                </a:solidFill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nl-NL" sz="2000" b="0" strike="noStrike" spc="-1">
                <a:solidFill>
                  <a:srgbClr val="000000"/>
                </a:solidFill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1800" b="0" strike="noStrike" spc="-1">
                <a:solidFill>
                  <a:srgbClr val="000000"/>
                </a:solidFill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nl-NL" sz="1800" b="0" strike="noStrike" spc="-1">
                <a:solidFill>
                  <a:srgbClr val="000000"/>
                </a:solidFill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2000" b="0" strike="noStrike" spc="-1">
                <a:solidFill>
                  <a:srgbClr val="000000"/>
                </a:solidFill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2000" b="0" strike="noStrike" spc="-1">
                <a:solidFill>
                  <a:srgbClr val="000000"/>
                </a:solidFill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2000" b="0" strike="noStrike" spc="-1">
                <a:solidFill>
                  <a:srgbClr val="000000"/>
                </a:solidFill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9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Afbeelding 11"/>
          <p:cNvPicPr/>
          <p:nvPr/>
        </p:nvPicPr>
        <p:blipFill>
          <a:blip r:embed="rId14"/>
          <a:stretch/>
        </p:blipFill>
        <p:spPr>
          <a:xfrm>
            <a:off x="-3284640" y="-720000"/>
            <a:ext cx="8312040" cy="8298000"/>
          </a:xfrm>
          <a:prstGeom prst="rect">
            <a:avLst/>
          </a:prstGeom>
          <a:ln w="0">
            <a:noFill/>
          </a:ln>
        </p:spPr>
      </p:pic>
      <p:pic>
        <p:nvPicPr>
          <p:cNvPr id="297" name="Afbeelding 7"/>
          <p:cNvPicPr/>
          <p:nvPr/>
        </p:nvPicPr>
        <p:blipFill>
          <a:blip r:embed="rId15"/>
          <a:stretch/>
        </p:blipFill>
        <p:spPr>
          <a:xfrm>
            <a:off x="10662840" y="6218280"/>
            <a:ext cx="1185840" cy="377640"/>
          </a:xfrm>
          <a:prstGeom prst="rect">
            <a:avLst/>
          </a:prstGeom>
          <a:ln w="0">
            <a:noFill/>
          </a:ln>
        </p:spPr>
      </p:pic>
      <p:pic>
        <p:nvPicPr>
          <p:cNvPr id="298" name="Afbeelding 2"/>
          <p:cNvPicPr/>
          <p:nvPr/>
        </p:nvPicPr>
        <p:blipFill>
          <a:blip r:embed="rId16"/>
          <a:stretch/>
        </p:blipFill>
        <p:spPr>
          <a:xfrm>
            <a:off x="871560" y="789840"/>
            <a:ext cx="10448640" cy="4860720"/>
          </a:xfrm>
          <a:prstGeom prst="rect">
            <a:avLst/>
          </a:prstGeom>
          <a:ln w="0">
            <a:noFill/>
          </a:ln>
        </p:spPr>
      </p:pic>
      <p:sp>
        <p:nvSpPr>
          <p:cNvPr id="299" name="Rechthoek 1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blipFill rotWithShape="0">
            <a:blip r:embed="rId17">
              <a:alphaModFix amt="2000"/>
            </a:blip>
            <a:srcRect/>
            <a:stretch/>
          </a:blipFill>
          <a:ln>
            <a:solidFill>
              <a:srgbClr val="0F1A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nl-NL"/>
          </a:p>
        </p:txBody>
      </p:sp>
      <p:sp>
        <p:nvSpPr>
          <p:cNvPr id="300" name="Tijdelijke aanduiding voor titel 1"/>
          <p:cNvSpPr/>
          <p:nvPr/>
        </p:nvSpPr>
        <p:spPr>
          <a:xfrm>
            <a:off x="545760" y="1636920"/>
            <a:ext cx="4969800" cy="445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nl-NL"/>
          </a:p>
        </p:txBody>
      </p:sp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1400400" y="1309320"/>
            <a:ext cx="9521280" cy="769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nl-NL" sz="2800" b="0" strike="noStrike" spc="-1">
                <a:solidFill>
                  <a:srgbClr val="050921"/>
                </a:solidFill>
                <a:latin typeface="Inter Medium"/>
                <a:ea typeface="Inter Medium"/>
              </a:rPr>
              <a:t>Korte titel hier.</a:t>
            </a:r>
            <a:endParaRPr lang="nl-NL" sz="2800" b="0" strike="noStrike" spc="-1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1400400" y="2224080"/>
            <a:ext cx="9522000" cy="2901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25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nl-NL" sz="1500" b="0" strike="noStrike" spc="-1">
                <a:solidFill>
                  <a:srgbClr val="575757"/>
                </a:solidFill>
                <a:latin typeface="Inter"/>
                <a:ea typeface="Inter"/>
              </a:rPr>
              <a:t>Klikken om de tekststijl van het model te bewerken</a:t>
            </a:r>
            <a:endParaRPr lang="nl-NL" sz="1500" b="0" strike="noStrike" spc="-1">
              <a:solidFill>
                <a:srgbClr val="000000"/>
              </a:solidFill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9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Afbeelding 7"/>
          <p:cNvPicPr/>
          <p:nvPr/>
        </p:nvPicPr>
        <p:blipFill>
          <a:blip r:embed="rId14"/>
          <a:stretch/>
        </p:blipFill>
        <p:spPr>
          <a:xfrm>
            <a:off x="10662840" y="6218280"/>
            <a:ext cx="1185840" cy="377640"/>
          </a:xfrm>
          <a:prstGeom prst="rect">
            <a:avLst/>
          </a:prstGeom>
          <a:ln w="0">
            <a:noFill/>
          </a:ln>
        </p:spPr>
      </p:pic>
      <p:sp>
        <p:nvSpPr>
          <p:cNvPr id="340" name="Rechthoek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blipFill rotWithShape="0">
            <a:blip r:embed="rId15">
              <a:alphaModFix amt="2000"/>
            </a:blip>
            <a:srcRect/>
            <a:stretch/>
          </a:blipFill>
          <a:ln>
            <a:solidFill>
              <a:srgbClr val="0F1A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nl-NL"/>
          </a:p>
        </p:txBody>
      </p:sp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nl-NL" sz="1800" b="0" strike="noStrike" spc="-1">
                <a:solidFill>
                  <a:srgbClr val="000000"/>
                </a:solidFill>
                <a:latin typeface="Aptos"/>
              </a:rPr>
              <a:t>Click to edit the title text format</a:t>
            </a:r>
          </a:p>
        </p:txBody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2800" b="0" strike="noStrike" spc="-1">
                <a:solidFill>
                  <a:srgbClr val="000000"/>
                </a:solidFill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nl-NL" sz="2000" b="0" strike="noStrike" spc="-1">
                <a:solidFill>
                  <a:srgbClr val="000000"/>
                </a:solidFill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1800" b="0" strike="noStrike" spc="-1">
                <a:solidFill>
                  <a:srgbClr val="000000"/>
                </a:solidFill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nl-NL" sz="1800" b="0" strike="noStrike" spc="-1">
                <a:solidFill>
                  <a:srgbClr val="000000"/>
                </a:solidFill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2000" b="0" strike="noStrike" spc="-1">
                <a:solidFill>
                  <a:srgbClr val="000000"/>
                </a:solidFill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2000" b="0" strike="noStrike" spc="-1">
                <a:solidFill>
                  <a:srgbClr val="000000"/>
                </a:solidFill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2000" b="0" strike="noStrike" spc="-1">
                <a:solidFill>
                  <a:srgbClr val="000000"/>
                </a:solidFill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adhendrikx/" TargetMode="External"/><Relationship Id="rId2" Type="http://schemas.openxmlformats.org/officeDocument/2006/relationships/hyperlink" Target="https://1optic.io/" TargetMode="Externa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Tekstvak 4"/>
          <p:cNvSpPr/>
          <p:nvPr/>
        </p:nvSpPr>
        <p:spPr>
          <a:xfrm>
            <a:off x="141840" y="2216880"/>
            <a:ext cx="6183546" cy="15066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0" strike="noStrike" spc="-1" dirty="0">
                <a:solidFill>
                  <a:srgbClr val="FFFFFF"/>
                </a:solidFill>
                <a:latin typeface="Inter"/>
              </a:rPr>
              <a:t>Bridging Notebooks and Databases:</a:t>
            </a:r>
            <a:endParaRPr lang="nl-NL" sz="2800" b="0" strike="noStrike" spc="-1" dirty="0">
              <a:latin typeface="Inter"/>
            </a:endParaRPr>
          </a:p>
          <a:p>
            <a:pPr>
              <a:lnSpc>
                <a:spcPct val="100000"/>
              </a:lnSpc>
              <a:buNone/>
            </a:pPr>
            <a:r>
              <a:rPr lang="en-US" sz="4800" b="0" strike="noStrike" spc="-1" dirty="0">
                <a:solidFill>
                  <a:srgbClr val="FFFFFF"/>
                </a:solidFill>
                <a:latin typeface="Inter"/>
              </a:rPr>
              <a:t>PostgreSQL in Docker</a:t>
            </a:r>
            <a:endParaRPr lang="nl-NL" sz="4800" b="0" strike="noStrike" spc="-1" dirty="0">
              <a:latin typeface="Inter"/>
            </a:endParaRPr>
          </a:p>
          <a:p>
            <a:pPr>
              <a:lnSpc>
                <a:spcPct val="100000"/>
              </a:lnSpc>
              <a:buNone/>
            </a:pPr>
            <a:r>
              <a:rPr lang="en-US" sz="1600" b="0" strike="noStrike" spc="-1" dirty="0">
                <a:solidFill>
                  <a:srgbClr val="FFFFFF"/>
                </a:solidFill>
                <a:latin typeface="Inter"/>
              </a:rPr>
              <a:t>Data Night 13 </a:t>
            </a:r>
            <a:r>
              <a:rPr lang="en-US" sz="1600" b="0" strike="noStrike" spc="-1" dirty="0" err="1">
                <a:solidFill>
                  <a:srgbClr val="FFFFFF"/>
                </a:solidFill>
                <a:latin typeface="Inter"/>
              </a:rPr>
              <a:t>d.d</a:t>
            </a:r>
            <a:r>
              <a:rPr lang="en-US" sz="1600" b="0" strike="noStrike" spc="-1" dirty="0">
                <a:solidFill>
                  <a:srgbClr val="FFFFFF"/>
                </a:solidFill>
                <a:latin typeface="Inter"/>
              </a:rPr>
              <a:t> November 18 2025 | Ad Hendrikx</a:t>
            </a:r>
            <a:endParaRPr lang="nl-NL" sz="1600" b="0" strike="noStrike" spc="-1" dirty="0">
              <a:latin typeface="Inter"/>
            </a:endParaRPr>
          </a:p>
        </p:txBody>
      </p:sp>
      <p:sp>
        <p:nvSpPr>
          <p:cNvPr id="380" name="Tekstvak 5"/>
          <p:cNvSpPr/>
          <p:nvPr/>
        </p:nvSpPr>
        <p:spPr>
          <a:xfrm>
            <a:off x="141840" y="3792812"/>
            <a:ext cx="5382267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600" b="0" strike="noStrike" spc="-1" dirty="0">
                <a:solidFill>
                  <a:srgbClr val="FFFFFF"/>
                </a:solidFill>
                <a:latin typeface="Inter"/>
              </a:rPr>
              <a:t>Demonstration of establishing a connection between a </a:t>
            </a:r>
            <a:r>
              <a:rPr lang="en-US" sz="1600" b="0" strike="noStrike" spc="-1" dirty="0" err="1">
                <a:solidFill>
                  <a:srgbClr val="FFFFFF"/>
                </a:solidFill>
                <a:latin typeface="Inter"/>
              </a:rPr>
              <a:t>Dockerized</a:t>
            </a:r>
            <a:r>
              <a:rPr lang="en-US" sz="1600" b="0" strike="noStrike" spc="-1" dirty="0">
                <a:solidFill>
                  <a:srgbClr val="FFFFFF"/>
                </a:solidFill>
                <a:latin typeface="Inter"/>
              </a:rPr>
              <a:t> PostgreSQL instance and a notebook, executing SQL queries, and converting results into </a:t>
            </a:r>
            <a:r>
              <a:rPr lang="en-US" sz="1600" b="0" strike="noStrike" spc="-1" dirty="0" err="1">
                <a:solidFill>
                  <a:srgbClr val="FFFFFF"/>
                </a:solidFill>
                <a:latin typeface="Inter"/>
              </a:rPr>
              <a:t>dataframes</a:t>
            </a:r>
            <a:r>
              <a:rPr lang="en-US" sz="1600" b="0" strike="noStrike" spc="-1" dirty="0">
                <a:solidFill>
                  <a:srgbClr val="FFFFFF"/>
                </a:solidFill>
                <a:latin typeface="Inter"/>
              </a:rPr>
              <a:t>.</a:t>
            </a:r>
            <a:endParaRPr lang="nl-NL" sz="1600" b="0" strike="noStrike" spc="-1" dirty="0">
              <a:latin typeface="Inte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title"/>
          </p:nvPr>
        </p:nvSpPr>
        <p:spPr>
          <a:xfrm>
            <a:off x="545760" y="1080720"/>
            <a:ext cx="8583840" cy="11124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nl-NL" sz="2800" b="0" strike="noStrike" spc="-1" dirty="0">
                <a:solidFill>
                  <a:srgbClr val="FFFFFF"/>
                </a:solidFill>
                <a:latin typeface="Inter Medium"/>
                <a:ea typeface="Inter Medium"/>
              </a:rPr>
              <a:t>Agenda</a:t>
            </a:r>
            <a:endParaRPr lang="nl-NL" sz="2800" b="0" strike="noStrike" spc="-1" dirty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382" name="PlaceHolder 2"/>
          <p:cNvSpPr>
            <a:spLocks noGrp="1"/>
          </p:cNvSpPr>
          <p:nvPr>
            <p:ph/>
          </p:nvPr>
        </p:nvSpPr>
        <p:spPr>
          <a:xfrm>
            <a:off x="546120" y="2404080"/>
            <a:ext cx="8516160" cy="2154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25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nl-NL" sz="1400" b="0" strike="noStrike" spc="-1" dirty="0">
                <a:solidFill>
                  <a:srgbClr val="FFFFFF"/>
                </a:solidFill>
                <a:latin typeface="Inter"/>
                <a:ea typeface="Inter"/>
              </a:rPr>
              <a:t>0. Ad Hendrikx → Co-</a:t>
            </a:r>
            <a:r>
              <a:rPr lang="nl-NL" sz="1400" b="0" strike="noStrike" spc="-1" dirty="0" err="1">
                <a:solidFill>
                  <a:srgbClr val="FFFFFF"/>
                </a:solidFill>
                <a:latin typeface="Inter"/>
                <a:ea typeface="Inter"/>
              </a:rPr>
              <a:t>founder</a:t>
            </a:r>
            <a:r>
              <a:rPr lang="nl-NL" sz="1400" b="0" strike="noStrike" spc="-1" dirty="0">
                <a:solidFill>
                  <a:srgbClr val="FFFFFF"/>
                </a:solidFill>
                <a:latin typeface="Inter"/>
                <a:ea typeface="Inter"/>
              </a:rPr>
              <a:t> 1Optic (data processing company) / </a:t>
            </a:r>
            <a:r>
              <a:rPr lang="nl-NL" sz="1400" b="0" strike="noStrike" spc="-1" dirty="0" err="1">
                <a:solidFill>
                  <a:srgbClr val="FFFFFF"/>
                </a:solidFill>
                <a:latin typeface="Inter"/>
                <a:ea typeface="Inter"/>
              </a:rPr>
              <a:t>see</a:t>
            </a:r>
            <a:r>
              <a:rPr lang="nl-NL" sz="1400" b="0" strike="noStrike" spc="-1" dirty="0">
                <a:solidFill>
                  <a:srgbClr val="FFFFFF"/>
                </a:solidFill>
                <a:latin typeface="Inter"/>
                <a:ea typeface="Inter"/>
              </a:rPr>
              <a:t> </a:t>
            </a:r>
            <a:r>
              <a:rPr lang="nl-NL" sz="1400" b="0" u="sng" strike="noStrike" spc="-1" dirty="0">
                <a:solidFill>
                  <a:srgbClr val="467886"/>
                </a:solidFill>
                <a:uFillTx/>
                <a:latin typeface="Inter"/>
                <a:ea typeface="Inter"/>
                <a:hlinkClick r:id="rId2"/>
              </a:rPr>
              <a:t>1Optic.io</a:t>
            </a:r>
            <a:r>
              <a:rPr lang="nl-NL" sz="1400" b="0" strike="noStrike" spc="-1" dirty="0">
                <a:solidFill>
                  <a:srgbClr val="FFFFFF"/>
                </a:solidFill>
                <a:latin typeface="Inter"/>
                <a:ea typeface="Inter"/>
              </a:rPr>
              <a:t>, </a:t>
            </a:r>
            <a:r>
              <a:rPr lang="nl-NL" sz="1400" b="0" u="sng" strike="noStrike" spc="-1" dirty="0">
                <a:solidFill>
                  <a:srgbClr val="467886"/>
                </a:solidFill>
                <a:uFillTx/>
                <a:latin typeface="Inter"/>
                <a:ea typeface="Inter"/>
                <a:hlinkClick r:id="rId3"/>
              </a:rPr>
              <a:t>LinkedIn</a:t>
            </a:r>
            <a:r>
              <a:rPr lang="nl-NL" sz="1400" b="0" strike="noStrike" spc="-1" dirty="0">
                <a:solidFill>
                  <a:srgbClr val="FFFFFF"/>
                </a:solidFill>
                <a:latin typeface="Inter"/>
                <a:ea typeface="Inter"/>
              </a:rPr>
              <a:t> or contact me </a:t>
            </a:r>
            <a:endParaRPr lang="nl-NL" sz="1400" b="0" strike="noStrike" spc="-1" dirty="0">
              <a:solidFill>
                <a:srgbClr val="000000"/>
              </a:solidFill>
              <a:latin typeface="Inter"/>
            </a:endParaRPr>
          </a:p>
          <a:p>
            <a:pPr>
              <a:lnSpc>
                <a:spcPct val="125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nl-NL" sz="3200" b="0" strike="noStrike" spc="-1" dirty="0">
                <a:solidFill>
                  <a:srgbClr val="FFFFFF"/>
                </a:solidFill>
                <a:latin typeface="Inter"/>
                <a:ea typeface="Inter"/>
              </a:rPr>
              <a:t>1. </a:t>
            </a:r>
            <a:r>
              <a:rPr lang="nl-NL" sz="3200" b="0" strike="noStrike" spc="-1" dirty="0" err="1">
                <a:solidFill>
                  <a:srgbClr val="FFFFFF"/>
                </a:solidFill>
                <a:latin typeface="Inter"/>
                <a:ea typeface="Inter"/>
              </a:rPr>
              <a:t>Use</a:t>
            </a:r>
            <a:r>
              <a:rPr lang="nl-NL" sz="3200" b="0" strike="noStrike" spc="-1" dirty="0">
                <a:solidFill>
                  <a:srgbClr val="FFFFFF"/>
                </a:solidFill>
                <a:latin typeface="Inter"/>
                <a:ea typeface="Inter"/>
              </a:rPr>
              <a:t> Case</a:t>
            </a:r>
            <a:endParaRPr lang="nl-NL" sz="3200" b="0" strike="noStrike" spc="-1" dirty="0">
              <a:solidFill>
                <a:srgbClr val="000000"/>
              </a:solidFill>
              <a:latin typeface="Inter"/>
            </a:endParaRPr>
          </a:p>
          <a:p>
            <a:pPr>
              <a:lnSpc>
                <a:spcPct val="125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nl-NL" sz="3200" b="0" strike="noStrike" spc="-1" dirty="0">
                <a:solidFill>
                  <a:srgbClr val="FFFFFF"/>
                </a:solidFill>
                <a:latin typeface="Inter"/>
                <a:ea typeface="Inter"/>
              </a:rPr>
              <a:t>2. </a:t>
            </a:r>
            <a:r>
              <a:rPr lang="nl-NL" sz="3200" b="0" strike="noStrike" spc="-1" dirty="0" err="1">
                <a:solidFill>
                  <a:srgbClr val="FFFFFF"/>
                </a:solidFill>
                <a:latin typeface="Inter"/>
                <a:ea typeface="Inter"/>
              </a:rPr>
              <a:t>Demonstration</a:t>
            </a:r>
            <a:endParaRPr lang="nl-NL" sz="3200" b="0" strike="noStrike" spc="-1" dirty="0">
              <a:solidFill>
                <a:srgbClr val="000000"/>
              </a:solidFill>
              <a:latin typeface="Inter"/>
            </a:endParaRPr>
          </a:p>
        </p:txBody>
      </p:sp>
      <p:sp>
        <p:nvSpPr>
          <p:cNvPr id="383" name="Titel 2"/>
          <p:cNvSpPr/>
          <p:nvPr/>
        </p:nvSpPr>
        <p:spPr>
          <a:xfrm>
            <a:off x="545760" y="4903920"/>
            <a:ext cx="2860920" cy="47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95500"/>
          </a:bodyPr>
          <a:lstStyle/>
          <a:p>
            <a:pPr>
              <a:lnSpc>
                <a:spcPct val="90000"/>
              </a:lnSpc>
              <a:buNone/>
            </a:pPr>
            <a:r>
              <a:rPr lang="nl-NL" sz="1800" b="0" strike="noStrike" spc="-1" dirty="0">
                <a:solidFill>
                  <a:srgbClr val="FFFFFF"/>
                </a:solidFill>
                <a:latin typeface="Inter Medium"/>
                <a:ea typeface="Inter Medium"/>
              </a:rPr>
              <a:t>Feel free </a:t>
            </a:r>
            <a:r>
              <a:rPr lang="nl-NL" sz="1800" b="0" strike="noStrike" spc="-1" dirty="0" err="1">
                <a:solidFill>
                  <a:srgbClr val="FFFFFF"/>
                </a:solidFill>
                <a:latin typeface="Inter Medium"/>
                <a:ea typeface="Inter Medium"/>
              </a:rPr>
              <a:t>to</a:t>
            </a:r>
            <a:r>
              <a:rPr lang="nl-NL" sz="1800" b="0" strike="noStrike" spc="-1" dirty="0">
                <a:solidFill>
                  <a:srgbClr val="FFFFFF"/>
                </a:solidFill>
                <a:latin typeface="Inter Medium"/>
                <a:ea typeface="Inter Medium"/>
              </a:rPr>
              <a:t> </a:t>
            </a:r>
            <a:r>
              <a:rPr lang="nl-NL" sz="1800" b="0" strike="noStrike" spc="-1" dirty="0" err="1">
                <a:solidFill>
                  <a:srgbClr val="FFFFFF"/>
                </a:solidFill>
                <a:latin typeface="Inter Medium"/>
                <a:ea typeface="Inter Medium"/>
              </a:rPr>
              <a:t>ask</a:t>
            </a:r>
            <a:r>
              <a:rPr lang="nl-NL" sz="1800" b="0" strike="noStrike" spc="-1" dirty="0">
                <a:solidFill>
                  <a:srgbClr val="FFFFFF"/>
                </a:solidFill>
                <a:latin typeface="Inter Medium"/>
                <a:ea typeface="Inter Medium"/>
              </a:rPr>
              <a:t> </a:t>
            </a:r>
            <a:r>
              <a:rPr lang="nl-NL" sz="1800" b="0" strike="noStrike" spc="-1" dirty="0" err="1">
                <a:solidFill>
                  <a:srgbClr val="FFFFFF"/>
                </a:solidFill>
                <a:latin typeface="Inter Medium"/>
                <a:ea typeface="Inter Medium"/>
              </a:rPr>
              <a:t>questions</a:t>
            </a:r>
            <a:r>
              <a:rPr lang="nl-NL" sz="1800" b="0" strike="noStrike" spc="-1" dirty="0">
                <a:solidFill>
                  <a:srgbClr val="FFFFFF"/>
                </a:solidFill>
                <a:latin typeface="Inter Medium"/>
                <a:ea typeface="Inter Medium"/>
              </a:rPr>
              <a:t>!</a:t>
            </a:r>
            <a:endParaRPr lang="nl-NL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Tekstvak 4"/>
          <p:cNvSpPr/>
          <p:nvPr/>
        </p:nvSpPr>
        <p:spPr>
          <a:xfrm>
            <a:off x="1667579" y="2968062"/>
            <a:ext cx="2791299" cy="9218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5400" b="0" strike="noStrike" spc="-1" dirty="0">
                <a:solidFill>
                  <a:srgbClr val="FFFFFF"/>
                </a:solidFill>
                <a:latin typeface="Inter"/>
              </a:rPr>
              <a:t>Use Case</a:t>
            </a:r>
            <a:endParaRPr lang="nl-NL" sz="5400" b="0" strike="noStrike" spc="-1" dirty="0">
              <a:latin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Afbeelding 9" descr="Afbeelding met Graphics, Lettertype, cirkel, grafische vormgeving&#10;&#10;Door AI gegenereerde inhoud is mogelijk onjuist."/>
          <p:cNvPicPr/>
          <p:nvPr/>
        </p:nvPicPr>
        <p:blipFill>
          <a:blip r:embed="rId2"/>
          <a:stretch/>
        </p:blipFill>
        <p:spPr>
          <a:xfrm>
            <a:off x="5645520" y="3601440"/>
            <a:ext cx="673200" cy="780480"/>
          </a:xfrm>
          <a:prstGeom prst="rect">
            <a:avLst/>
          </a:prstGeom>
          <a:ln w="0">
            <a:noFill/>
          </a:ln>
        </p:spPr>
      </p:pic>
      <p:pic>
        <p:nvPicPr>
          <p:cNvPr id="386" name="Afbeelding 11" descr="Afbeelding met Graphics, Lettertype, schermopname, logo&#10;&#10;Door AI gegenereerde inhoud is mogelijk onjuist."/>
          <p:cNvPicPr/>
          <p:nvPr/>
        </p:nvPicPr>
        <p:blipFill>
          <a:blip r:embed="rId3"/>
          <a:stretch/>
        </p:blipFill>
        <p:spPr>
          <a:xfrm>
            <a:off x="491040" y="1929600"/>
            <a:ext cx="1237320" cy="1135080"/>
          </a:xfrm>
          <a:prstGeom prst="rect">
            <a:avLst/>
          </a:prstGeom>
          <a:ln w="0">
            <a:noFill/>
          </a:ln>
        </p:spPr>
      </p:pic>
      <p:pic>
        <p:nvPicPr>
          <p:cNvPr id="387" name="Afbeelding 13" descr="Afbeelding met tekst, schermopname, software, Webpagina&#10;&#10;Door AI gegenereerde inhoud is mogelijk onjuist."/>
          <p:cNvPicPr/>
          <p:nvPr/>
        </p:nvPicPr>
        <p:blipFill>
          <a:blip r:embed="rId4"/>
          <a:stretch/>
        </p:blipFill>
        <p:spPr>
          <a:xfrm>
            <a:off x="5400000" y="1087920"/>
            <a:ext cx="4449600" cy="3152160"/>
          </a:xfrm>
          <a:prstGeom prst="rect">
            <a:avLst/>
          </a:prstGeom>
          <a:ln w="0">
            <a:noFill/>
          </a:ln>
        </p:spPr>
      </p:pic>
      <p:sp>
        <p:nvSpPr>
          <p:cNvPr id="388" name="Pijl: rechts 14"/>
          <p:cNvSpPr/>
          <p:nvPr/>
        </p:nvSpPr>
        <p:spPr>
          <a:xfrm>
            <a:off x="1944720" y="2391840"/>
            <a:ext cx="3312720" cy="3164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83A71"/>
          </a:solidFill>
          <a:ln>
            <a:solidFill>
              <a:srgbClr val="183A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nl-NL">
              <a:latin typeface="Inter"/>
            </a:endParaRPr>
          </a:p>
        </p:txBody>
      </p:sp>
      <p:sp>
        <p:nvSpPr>
          <p:cNvPr id="389" name="Tekstvak 15"/>
          <p:cNvSpPr/>
          <p:nvPr/>
        </p:nvSpPr>
        <p:spPr>
          <a:xfrm>
            <a:off x="2364840" y="1410480"/>
            <a:ext cx="285336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nl-NL" sz="1800" b="0" strike="noStrike" spc="-1" dirty="0">
                <a:solidFill>
                  <a:srgbClr val="FFFFFF"/>
                </a:solidFill>
                <a:latin typeface="Inter"/>
              </a:rPr>
              <a:t>Data </a:t>
            </a:r>
            <a:r>
              <a:rPr lang="nl-NL" sz="1800" b="0" strike="noStrike" spc="-1" dirty="0" err="1">
                <a:solidFill>
                  <a:srgbClr val="FFFFFF"/>
                </a:solidFill>
                <a:latin typeface="Inter"/>
              </a:rPr>
              <a:t>Science</a:t>
            </a:r>
            <a:r>
              <a:rPr lang="nl-NL" sz="1800" b="0" strike="noStrike" spc="-1" dirty="0">
                <a:solidFill>
                  <a:srgbClr val="FFFFFF"/>
                </a:solidFill>
                <a:latin typeface="Inter"/>
              </a:rPr>
              <a:t> Project</a:t>
            </a:r>
            <a:endParaRPr lang="nl-NL" sz="1800" b="0" strike="noStrike" spc="-1" dirty="0">
              <a:latin typeface="Inter"/>
            </a:endParaRPr>
          </a:p>
        </p:txBody>
      </p:sp>
      <p:sp>
        <p:nvSpPr>
          <p:cNvPr id="390" name="Tekstvak 16"/>
          <p:cNvSpPr/>
          <p:nvPr/>
        </p:nvSpPr>
        <p:spPr>
          <a:xfrm>
            <a:off x="2364840" y="2051640"/>
            <a:ext cx="285336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nl-NL" sz="1800" b="0" strike="noStrike" spc="-1" dirty="0" err="1">
                <a:solidFill>
                  <a:srgbClr val="FFFFFF"/>
                </a:solidFill>
                <a:latin typeface="Inter"/>
              </a:rPr>
              <a:t>Jupyter</a:t>
            </a:r>
            <a:r>
              <a:rPr lang="nl-NL" sz="1800" b="0" strike="noStrike" spc="-1" dirty="0">
                <a:solidFill>
                  <a:srgbClr val="FFFFFF"/>
                </a:solidFill>
                <a:latin typeface="Inter"/>
              </a:rPr>
              <a:t> Notebook</a:t>
            </a:r>
            <a:endParaRPr lang="nl-NL" sz="1800" b="0" strike="noStrike" spc="-1" dirty="0">
              <a:latin typeface="Inter"/>
            </a:endParaRPr>
          </a:p>
        </p:txBody>
      </p:sp>
      <p:sp>
        <p:nvSpPr>
          <p:cNvPr id="391" name="Tekstvak 17"/>
          <p:cNvSpPr/>
          <p:nvPr/>
        </p:nvSpPr>
        <p:spPr>
          <a:xfrm>
            <a:off x="2364840" y="2777400"/>
            <a:ext cx="285336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nl-NL" sz="1800" b="0" strike="noStrike" spc="-1" dirty="0">
                <a:solidFill>
                  <a:srgbClr val="FFFFFF"/>
                </a:solidFill>
                <a:latin typeface="Inter"/>
              </a:rPr>
              <a:t>Import </a:t>
            </a:r>
            <a:r>
              <a:rPr lang="nl-NL" sz="1800" b="0" strike="noStrike" spc="-1" dirty="0" err="1">
                <a:solidFill>
                  <a:srgbClr val="FFFFFF"/>
                </a:solidFill>
                <a:latin typeface="Inter"/>
              </a:rPr>
              <a:t>pandas</a:t>
            </a:r>
            <a:endParaRPr lang="nl-NL" sz="1800" b="0" strike="noStrike" spc="-1" dirty="0">
              <a:latin typeface="Inter"/>
            </a:endParaRPr>
          </a:p>
        </p:txBody>
      </p:sp>
      <p:sp>
        <p:nvSpPr>
          <p:cNvPr id="392" name="Tekstvak 18"/>
          <p:cNvSpPr/>
          <p:nvPr/>
        </p:nvSpPr>
        <p:spPr>
          <a:xfrm>
            <a:off x="2364840" y="3318120"/>
            <a:ext cx="285336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nl-NL" sz="1800" b="0" strike="noStrike" spc="-1">
                <a:solidFill>
                  <a:srgbClr val="FFFFFF"/>
                </a:solidFill>
                <a:latin typeface="Inter"/>
              </a:rPr>
              <a:t>Import csv</a:t>
            </a:r>
            <a:endParaRPr lang="nl-NL" sz="1800" b="0" strike="noStrike" spc="-1">
              <a:latin typeface="Inter"/>
            </a:endParaRPr>
          </a:p>
        </p:txBody>
      </p:sp>
      <p:sp>
        <p:nvSpPr>
          <p:cNvPr id="393" name="Tekstvak 19"/>
          <p:cNvSpPr/>
          <p:nvPr/>
        </p:nvSpPr>
        <p:spPr>
          <a:xfrm>
            <a:off x="2364840" y="3861720"/>
            <a:ext cx="285336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nl-NL" sz="1800" b="0" strike="noStrike" spc="-1">
                <a:solidFill>
                  <a:srgbClr val="FFFFFF"/>
                </a:solidFill>
                <a:latin typeface="Inter"/>
              </a:rPr>
              <a:t>Do your stuff</a:t>
            </a:r>
            <a:endParaRPr lang="nl-NL" sz="1800" b="0" strike="noStrike" spc="-1">
              <a:latin typeface="Inter"/>
            </a:endParaRPr>
          </a:p>
        </p:txBody>
      </p:sp>
      <p:sp>
        <p:nvSpPr>
          <p:cNvPr id="394" name="Tekstvak 20"/>
          <p:cNvSpPr/>
          <p:nvPr/>
        </p:nvSpPr>
        <p:spPr>
          <a:xfrm>
            <a:off x="2364840" y="5225760"/>
            <a:ext cx="285336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nl-NL" sz="1800" b="0" strike="noStrike" spc="-1">
                <a:solidFill>
                  <a:srgbClr val="FFFFFF"/>
                </a:solidFill>
                <a:latin typeface="Inter"/>
              </a:rPr>
              <a:t>Big data (performance)??</a:t>
            </a:r>
            <a:endParaRPr lang="nl-NL" sz="1800" b="0" strike="noStrike" spc="-1">
              <a:latin typeface="Inter"/>
            </a:endParaRPr>
          </a:p>
        </p:txBody>
      </p:sp>
      <p:sp>
        <p:nvSpPr>
          <p:cNvPr id="395" name="Tekstvak 21"/>
          <p:cNvSpPr/>
          <p:nvPr/>
        </p:nvSpPr>
        <p:spPr>
          <a:xfrm>
            <a:off x="2082240" y="4412160"/>
            <a:ext cx="341856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nl-NL" sz="1800" b="0" strike="noStrike" spc="-1">
                <a:solidFill>
                  <a:srgbClr val="FFFFFF"/>
                </a:solidFill>
                <a:latin typeface="Inter"/>
              </a:rPr>
              <a:t>Slice and dice data with SQL instead of Pandas dataframes??</a:t>
            </a:r>
            <a:endParaRPr lang="nl-NL" sz="1800" b="0" strike="noStrike" spc="-1">
              <a:latin typeface="Inter"/>
            </a:endParaRPr>
          </a:p>
        </p:txBody>
      </p:sp>
      <p:sp>
        <p:nvSpPr>
          <p:cNvPr id="396" name="Tekstvak 1"/>
          <p:cNvSpPr/>
          <p:nvPr/>
        </p:nvSpPr>
        <p:spPr>
          <a:xfrm>
            <a:off x="2331000" y="5819400"/>
            <a:ext cx="285336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nl-NL" sz="1800" b="0" strike="noStrike" spc="-1">
                <a:solidFill>
                  <a:srgbClr val="FFFFFF"/>
                </a:solidFill>
                <a:latin typeface="Inter"/>
              </a:rPr>
              <a:t>Access data with other solutions (e.g. Grafana)??</a:t>
            </a:r>
            <a:endParaRPr lang="nl-NL" sz="1800" b="0" strike="noStrike" spc="-1">
              <a:latin typeface="Inte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"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0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5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0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5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0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Afbeelding 9" descr="Afbeelding met Graphics, Lettertype, cirkel, grafische vormgeving&#10;&#10;Door AI gegenereerde inhoud is mogelijk onjuist."/>
          <p:cNvPicPr/>
          <p:nvPr/>
        </p:nvPicPr>
        <p:blipFill>
          <a:blip r:embed="rId2"/>
          <a:stretch/>
        </p:blipFill>
        <p:spPr>
          <a:xfrm>
            <a:off x="5645520" y="3601440"/>
            <a:ext cx="673200" cy="780480"/>
          </a:xfrm>
          <a:prstGeom prst="rect">
            <a:avLst/>
          </a:prstGeom>
          <a:ln w="0">
            <a:noFill/>
          </a:ln>
        </p:spPr>
      </p:pic>
      <p:pic>
        <p:nvPicPr>
          <p:cNvPr id="398" name="Afbeelding 11" descr="Afbeelding met Graphics, Lettertype, schermopname, logo&#10;&#10;Door AI gegenereerde inhoud is mogelijk onjuist."/>
          <p:cNvPicPr/>
          <p:nvPr/>
        </p:nvPicPr>
        <p:blipFill>
          <a:blip r:embed="rId3"/>
          <a:stretch/>
        </p:blipFill>
        <p:spPr>
          <a:xfrm>
            <a:off x="491040" y="1929600"/>
            <a:ext cx="1237320" cy="1135080"/>
          </a:xfrm>
          <a:prstGeom prst="rect">
            <a:avLst/>
          </a:prstGeom>
          <a:ln w="0">
            <a:noFill/>
          </a:ln>
        </p:spPr>
      </p:pic>
      <p:pic>
        <p:nvPicPr>
          <p:cNvPr id="399" name="Afbeelding 13" descr="Afbeelding met tekst, schermopname, software, Webpagina&#10;&#10;Door AI gegenereerde inhoud is mogelijk onjuist."/>
          <p:cNvPicPr/>
          <p:nvPr/>
        </p:nvPicPr>
        <p:blipFill>
          <a:blip r:embed="rId4"/>
          <a:stretch/>
        </p:blipFill>
        <p:spPr>
          <a:xfrm>
            <a:off x="5400000" y="1087920"/>
            <a:ext cx="4449600" cy="3152160"/>
          </a:xfrm>
          <a:prstGeom prst="rect">
            <a:avLst/>
          </a:prstGeom>
          <a:ln w="0">
            <a:noFill/>
          </a:ln>
        </p:spPr>
      </p:pic>
      <p:grpSp>
        <p:nvGrpSpPr>
          <p:cNvPr id="400" name="Groep 8"/>
          <p:cNvGrpSpPr/>
          <p:nvPr/>
        </p:nvGrpSpPr>
        <p:grpSpPr>
          <a:xfrm>
            <a:off x="2614320" y="1038600"/>
            <a:ext cx="2268720" cy="2917800"/>
            <a:chOff x="2614320" y="1038600"/>
            <a:chExt cx="2268720" cy="2917800"/>
          </a:xfrm>
        </p:grpSpPr>
        <p:pic>
          <p:nvPicPr>
            <p:cNvPr id="401" name="Afbeelding 2" descr="Afbeelding met Graphics, ontwerp, illustratie, typografie&#10;&#10;Door AI gegenereerde inhoud is mogelijk onjuist."/>
            <p:cNvPicPr/>
            <p:nvPr/>
          </p:nvPicPr>
          <p:blipFill>
            <a:blip r:embed="rId5"/>
            <a:stretch/>
          </p:blipFill>
          <p:spPr>
            <a:xfrm>
              <a:off x="2895840" y="3423600"/>
              <a:ext cx="1705680" cy="405360"/>
            </a:xfrm>
            <a:prstGeom prst="rect">
              <a:avLst/>
            </a:prstGeom>
            <a:ln w="0">
              <a:solidFill>
                <a:srgbClr val="183A71"/>
              </a:solidFill>
            </a:ln>
          </p:spPr>
        </p:pic>
        <p:grpSp>
          <p:nvGrpSpPr>
            <p:cNvPr id="402" name="Groep 6"/>
            <p:cNvGrpSpPr/>
            <p:nvPr/>
          </p:nvGrpSpPr>
          <p:grpSpPr>
            <a:xfrm>
              <a:off x="3007800" y="1356480"/>
              <a:ext cx="1481040" cy="1638000"/>
              <a:chOff x="3007800" y="1356480"/>
              <a:chExt cx="1481040" cy="1638000"/>
            </a:xfrm>
          </p:grpSpPr>
          <p:sp>
            <p:nvSpPr>
              <p:cNvPr id="403" name="Cilinder 5"/>
              <p:cNvSpPr/>
              <p:nvPr/>
            </p:nvSpPr>
            <p:spPr>
              <a:xfrm>
                <a:off x="3007800" y="1356480"/>
                <a:ext cx="1481040" cy="1638000"/>
              </a:xfrm>
              <a:prstGeom prst="can">
                <a:avLst>
                  <a:gd name="adj" fmla="val 25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183A7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nl-NL">
                  <a:latin typeface="Inter"/>
                </a:endParaRPr>
              </a:p>
            </p:txBody>
          </p:sp>
          <p:pic>
            <p:nvPicPr>
              <p:cNvPr id="404" name="Afbeelding 4" descr="Afbeelding met Graphics, Lettertype, clipart, symbool&#10;&#10;Door AI gegenereerde inhoud is mogelijk onjuist."/>
              <p:cNvPicPr/>
              <p:nvPr/>
            </p:nvPicPr>
            <p:blipFill>
              <a:blip r:embed="rId6"/>
              <a:stretch/>
            </p:blipFill>
            <p:spPr>
              <a:xfrm>
                <a:off x="3200400" y="1745280"/>
                <a:ext cx="1095840" cy="1098000"/>
              </a:xfrm>
              <a:prstGeom prst="rect">
                <a:avLst/>
              </a:prstGeom>
              <a:ln w="0">
                <a:solidFill>
                  <a:srgbClr val="183A71"/>
                </a:solidFill>
              </a:ln>
            </p:spPr>
          </p:pic>
        </p:grpSp>
        <p:sp>
          <p:nvSpPr>
            <p:cNvPr id="405" name="Rechthoek: afgeronde hoeken 7"/>
            <p:cNvSpPr/>
            <p:nvPr/>
          </p:nvSpPr>
          <p:spPr>
            <a:xfrm>
              <a:off x="2614320" y="1038600"/>
              <a:ext cx="2268720" cy="2917800"/>
            </a:xfrm>
            <a:prstGeom prst="roundRect">
              <a:avLst>
                <a:gd name="adj" fmla="val 8848"/>
              </a:avLst>
            </a:prstGeom>
            <a:noFill/>
            <a:ln>
              <a:solidFill>
                <a:srgbClr val="3FE0C2"/>
              </a:solidFill>
              <a:prstDash val="sysDot"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nl-NL">
                <a:latin typeface="Inter"/>
              </a:endParaRPr>
            </a:p>
          </p:txBody>
        </p:sp>
      </p:grpSp>
      <p:sp>
        <p:nvSpPr>
          <p:cNvPr id="406" name="Pijl: rechts 10"/>
          <p:cNvSpPr/>
          <p:nvPr/>
        </p:nvSpPr>
        <p:spPr>
          <a:xfrm>
            <a:off x="1833840" y="2217600"/>
            <a:ext cx="650880" cy="347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83A71"/>
          </a:solidFill>
          <a:ln>
            <a:solidFill>
              <a:srgbClr val="183A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nl-NL">
              <a:latin typeface="Inter"/>
            </a:endParaRPr>
          </a:p>
        </p:txBody>
      </p:sp>
      <p:sp>
        <p:nvSpPr>
          <p:cNvPr id="407" name="Tekstvak 14"/>
          <p:cNvSpPr/>
          <p:nvPr/>
        </p:nvSpPr>
        <p:spPr>
          <a:xfrm>
            <a:off x="2331000" y="5127840"/>
            <a:ext cx="285336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nl-NL" sz="1800" b="0" strike="noStrike" spc="-1">
                <a:solidFill>
                  <a:srgbClr val="FFFFFF"/>
                </a:solidFill>
                <a:latin typeface="Inter"/>
              </a:rPr>
              <a:t>Big data (performance)!!</a:t>
            </a:r>
            <a:endParaRPr lang="nl-NL" sz="1800" b="0" strike="noStrike" spc="-1">
              <a:latin typeface="Inter"/>
            </a:endParaRPr>
          </a:p>
        </p:txBody>
      </p:sp>
      <p:sp>
        <p:nvSpPr>
          <p:cNvPr id="408" name="Tekstvak 15"/>
          <p:cNvSpPr/>
          <p:nvPr/>
        </p:nvSpPr>
        <p:spPr>
          <a:xfrm>
            <a:off x="2238480" y="4233600"/>
            <a:ext cx="303840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nl-NL" sz="1800" b="0" strike="noStrike" spc="-1">
                <a:solidFill>
                  <a:srgbClr val="FFFFFF"/>
                </a:solidFill>
                <a:latin typeface="Inter"/>
              </a:rPr>
              <a:t>Slice and dice data with </a:t>
            </a:r>
            <a:r>
              <a:rPr lang="nl-NL" sz="1800" b="1" i="1" strike="noStrike" spc="-1">
                <a:solidFill>
                  <a:srgbClr val="FFFFFF"/>
                </a:solidFill>
                <a:latin typeface="Inter"/>
              </a:rPr>
              <a:t>SQL</a:t>
            </a:r>
            <a:r>
              <a:rPr lang="nl-NL" sz="1800" b="0" strike="noStrike" spc="-1">
                <a:solidFill>
                  <a:srgbClr val="FFFFFF"/>
                </a:solidFill>
                <a:latin typeface="Inter"/>
              </a:rPr>
              <a:t> instead of dataframes!!</a:t>
            </a:r>
            <a:endParaRPr lang="nl-NL" sz="1800" b="0" strike="noStrike" spc="-1">
              <a:latin typeface="Inter"/>
            </a:endParaRPr>
          </a:p>
        </p:txBody>
      </p:sp>
      <p:sp>
        <p:nvSpPr>
          <p:cNvPr id="409" name="Tekstvak 1"/>
          <p:cNvSpPr/>
          <p:nvPr/>
        </p:nvSpPr>
        <p:spPr>
          <a:xfrm>
            <a:off x="2331000" y="5819400"/>
            <a:ext cx="285336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nl-NL" sz="1800" b="0" strike="noStrike" spc="-1">
                <a:solidFill>
                  <a:srgbClr val="FFFFFF"/>
                </a:solidFill>
                <a:latin typeface="Inter"/>
              </a:rPr>
              <a:t>Access data with other solutions (e.g. Grafana)!!</a:t>
            </a:r>
            <a:endParaRPr lang="nl-NL" sz="1800" b="0" strike="noStrike" spc="-1">
              <a:latin typeface="Inter"/>
            </a:endParaRPr>
          </a:p>
        </p:txBody>
      </p:sp>
      <p:sp>
        <p:nvSpPr>
          <p:cNvPr id="410" name="Pijl: links/rechts 16"/>
          <p:cNvSpPr/>
          <p:nvPr/>
        </p:nvSpPr>
        <p:spPr>
          <a:xfrm>
            <a:off x="5012640" y="2217600"/>
            <a:ext cx="539748" cy="34776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183A71"/>
          </a:solidFill>
          <a:ln>
            <a:solidFill>
              <a:srgbClr val="183A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nl-NL">
              <a:latin typeface="Inte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title"/>
          </p:nvPr>
        </p:nvSpPr>
        <p:spPr>
          <a:xfrm>
            <a:off x="1886760" y="1487880"/>
            <a:ext cx="3450960" cy="7693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nl-NL" sz="2800" b="0" strike="noStrike" spc="-1">
                <a:solidFill>
                  <a:srgbClr val="050921"/>
                </a:solidFill>
                <a:latin typeface="Inter"/>
                <a:ea typeface="Inter Medium"/>
              </a:rPr>
              <a:t>Virtual Machines</a:t>
            </a:r>
            <a:endParaRPr lang="nl-NL" sz="2800" b="0" strike="noStrike" spc="-1">
              <a:solidFill>
                <a:srgbClr val="000000"/>
              </a:solidFill>
              <a:latin typeface="Inter"/>
            </a:endParaRPr>
          </a:p>
        </p:txBody>
      </p:sp>
      <p:sp>
        <p:nvSpPr>
          <p:cNvPr id="412" name="Titel 2"/>
          <p:cNvSpPr/>
          <p:nvPr/>
        </p:nvSpPr>
        <p:spPr>
          <a:xfrm>
            <a:off x="7209360" y="1487880"/>
            <a:ext cx="3450960" cy="76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nl-NL" sz="2800" b="0" strike="noStrike" spc="-1">
                <a:solidFill>
                  <a:srgbClr val="050921"/>
                </a:solidFill>
                <a:latin typeface="Inter"/>
                <a:ea typeface="Inter Medium"/>
              </a:rPr>
              <a:t>Containers</a:t>
            </a:r>
            <a:endParaRPr lang="nl-NL" sz="2800" b="0" strike="noStrike" spc="-1">
              <a:latin typeface="Inter"/>
            </a:endParaRPr>
          </a:p>
        </p:txBody>
      </p:sp>
      <p:sp>
        <p:nvSpPr>
          <p:cNvPr id="413" name="Rechthoek: afgeronde hoeken 6"/>
          <p:cNvSpPr/>
          <p:nvPr/>
        </p:nvSpPr>
        <p:spPr>
          <a:xfrm>
            <a:off x="1886760" y="4362120"/>
            <a:ext cx="3450960" cy="514440"/>
          </a:xfrm>
          <a:prstGeom prst="roundRect">
            <a:avLst>
              <a:gd name="adj" fmla="val 16667"/>
            </a:avLst>
          </a:prstGeom>
          <a:solidFill>
            <a:srgbClr val="183A71"/>
          </a:solidFill>
          <a:ln>
            <a:solidFill>
              <a:srgbClr val="183A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nl-NL" sz="1800" b="0" strike="noStrike" spc="-1">
                <a:solidFill>
                  <a:srgbClr val="FFFFFF"/>
                </a:solidFill>
                <a:latin typeface="Inter"/>
              </a:rPr>
              <a:t>Infrastructure</a:t>
            </a:r>
            <a:br>
              <a:rPr sz="1800">
                <a:latin typeface="Inter"/>
              </a:rPr>
            </a:br>
            <a:r>
              <a:rPr lang="nl-NL" sz="1800" b="0" strike="noStrike" spc="-1">
                <a:solidFill>
                  <a:srgbClr val="FFFFFF"/>
                </a:solidFill>
                <a:latin typeface="Inter"/>
              </a:rPr>
              <a:t>Host Server(s)</a:t>
            </a:r>
            <a:endParaRPr lang="nl-NL" sz="1800" b="0" strike="noStrike" spc="-1">
              <a:latin typeface="Inter"/>
            </a:endParaRPr>
          </a:p>
        </p:txBody>
      </p:sp>
      <p:sp>
        <p:nvSpPr>
          <p:cNvPr id="414" name="Rechthoek: afgeronde hoeken 7"/>
          <p:cNvSpPr/>
          <p:nvPr/>
        </p:nvSpPr>
        <p:spPr>
          <a:xfrm>
            <a:off x="7325280" y="4362120"/>
            <a:ext cx="3219120" cy="514440"/>
          </a:xfrm>
          <a:prstGeom prst="roundRect">
            <a:avLst>
              <a:gd name="adj" fmla="val 16667"/>
            </a:avLst>
          </a:prstGeom>
          <a:solidFill>
            <a:srgbClr val="183A71"/>
          </a:solidFill>
          <a:ln>
            <a:solidFill>
              <a:srgbClr val="183A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nl-NL" sz="1800" b="0" strike="noStrike" spc="-1">
                <a:solidFill>
                  <a:srgbClr val="FFFFFF"/>
                </a:solidFill>
                <a:latin typeface="Inter"/>
              </a:rPr>
              <a:t>Infrastructure</a:t>
            </a:r>
            <a:br>
              <a:rPr sz="1800">
                <a:latin typeface="Inter"/>
              </a:rPr>
            </a:br>
            <a:r>
              <a:rPr lang="nl-NL" sz="1800" b="0" strike="noStrike" spc="-1">
                <a:solidFill>
                  <a:srgbClr val="FFFFFF"/>
                </a:solidFill>
                <a:latin typeface="Inter"/>
              </a:rPr>
              <a:t>Host Server(s)</a:t>
            </a:r>
            <a:endParaRPr lang="nl-NL" sz="1800" b="0" strike="noStrike" spc="-1">
              <a:latin typeface="Inter"/>
            </a:endParaRPr>
          </a:p>
        </p:txBody>
      </p:sp>
      <p:sp>
        <p:nvSpPr>
          <p:cNvPr id="415" name="Rechthoek: afgeronde hoeken 8"/>
          <p:cNvSpPr/>
          <p:nvPr/>
        </p:nvSpPr>
        <p:spPr>
          <a:xfrm>
            <a:off x="1886760" y="3747960"/>
            <a:ext cx="3450960" cy="514440"/>
          </a:xfrm>
          <a:prstGeom prst="roundRect">
            <a:avLst>
              <a:gd name="adj" fmla="val 16667"/>
            </a:avLst>
          </a:prstGeom>
          <a:solidFill>
            <a:srgbClr val="183A71"/>
          </a:solidFill>
          <a:ln>
            <a:solidFill>
              <a:srgbClr val="183A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nl-NL" sz="1800" b="0" strike="noStrike" spc="-1">
                <a:solidFill>
                  <a:srgbClr val="FFFFFF"/>
                </a:solidFill>
                <a:latin typeface="Inter"/>
              </a:rPr>
              <a:t>Hypervisor</a:t>
            </a:r>
            <a:endParaRPr lang="nl-NL" sz="1800" b="0" strike="noStrike" spc="-1">
              <a:latin typeface="Inter"/>
            </a:endParaRPr>
          </a:p>
        </p:txBody>
      </p:sp>
      <p:sp>
        <p:nvSpPr>
          <p:cNvPr id="416" name="Rechthoek: afgeronde hoeken 9"/>
          <p:cNvSpPr/>
          <p:nvPr/>
        </p:nvSpPr>
        <p:spPr>
          <a:xfrm>
            <a:off x="7325280" y="3747960"/>
            <a:ext cx="3219120" cy="514440"/>
          </a:xfrm>
          <a:prstGeom prst="roundRect">
            <a:avLst>
              <a:gd name="adj" fmla="val 16667"/>
            </a:avLst>
          </a:prstGeom>
          <a:solidFill>
            <a:srgbClr val="183A71"/>
          </a:solidFill>
          <a:ln>
            <a:solidFill>
              <a:srgbClr val="183A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nl-NL" sz="1800" b="0" strike="noStrike" spc="-1">
                <a:solidFill>
                  <a:srgbClr val="FFFFFF"/>
                </a:solidFill>
                <a:latin typeface="Inter"/>
              </a:rPr>
              <a:t>Operating System</a:t>
            </a:r>
            <a:endParaRPr lang="nl-NL" sz="1800" b="0" strike="noStrike" spc="-1">
              <a:latin typeface="Inter"/>
            </a:endParaRPr>
          </a:p>
        </p:txBody>
      </p:sp>
      <p:sp>
        <p:nvSpPr>
          <p:cNvPr id="417" name="Rechthoek: afgeronde hoeken 10"/>
          <p:cNvSpPr/>
          <p:nvPr/>
        </p:nvSpPr>
        <p:spPr>
          <a:xfrm>
            <a:off x="7325280" y="3133800"/>
            <a:ext cx="3219120" cy="514440"/>
          </a:xfrm>
          <a:prstGeom prst="roundRect">
            <a:avLst>
              <a:gd name="adj" fmla="val 16667"/>
            </a:avLst>
          </a:prstGeom>
          <a:solidFill>
            <a:srgbClr val="183A71"/>
          </a:solidFill>
          <a:ln>
            <a:solidFill>
              <a:srgbClr val="183A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nl-NL" sz="1800" b="0" strike="noStrike" spc="-1">
                <a:solidFill>
                  <a:srgbClr val="FFFFFF"/>
                </a:solidFill>
                <a:latin typeface="Inter"/>
              </a:rPr>
              <a:t>Container Software</a:t>
            </a:r>
            <a:br>
              <a:rPr sz="1800">
                <a:latin typeface="Inter"/>
              </a:rPr>
            </a:br>
            <a:r>
              <a:rPr lang="nl-NL" sz="1800" b="0" strike="noStrike" spc="-1">
                <a:solidFill>
                  <a:srgbClr val="FFFFFF"/>
                </a:solidFill>
                <a:latin typeface="Inter"/>
              </a:rPr>
              <a:t>(e.g. Docker)</a:t>
            </a:r>
            <a:endParaRPr lang="nl-NL" sz="1800" b="0" strike="noStrike" spc="-1">
              <a:latin typeface="Inter"/>
            </a:endParaRPr>
          </a:p>
        </p:txBody>
      </p:sp>
      <p:sp>
        <p:nvSpPr>
          <p:cNvPr id="418" name="Rechthoek: afgeronde hoeken 11"/>
          <p:cNvSpPr/>
          <p:nvPr/>
        </p:nvSpPr>
        <p:spPr>
          <a:xfrm>
            <a:off x="7325280" y="2448360"/>
            <a:ext cx="740160" cy="514440"/>
          </a:xfrm>
          <a:prstGeom prst="roundRect">
            <a:avLst>
              <a:gd name="adj" fmla="val 16667"/>
            </a:avLst>
          </a:prstGeom>
          <a:solidFill>
            <a:srgbClr val="183A71"/>
          </a:solidFill>
          <a:ln>
            <a:solidFill>
              <a:srgbClr val="183A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nl-NL" sz="900" b="0" strike="noStrike" spc="-1">
                <a:solidFill>
                  <a:srgbClr val="FFFFFF"/>
                </a:solidFill>
                <a:latin typeface="Inter"/>
              </a:rPr>
              <a:t>Container</a:t>
            </a:r>
            <a:endParaRPr lang="nl-NL" sz="900" b="0" strike="noStrike" spc="-1">
              <a:latin typeface="Inter"/>
            </a:endParaRPr>
          </a:p>
        </p:txBody>
      </p:sp>
      <p:sp>
        <p:nvSpPr>
          <p:cNvPr id="419" name="Rechthoek: afgeronde hoeken 12"/>
          <p:cNvSpPr/>
          <p:nvPr/>
        </p:nvSpPr>
        <p:spPr>
          <a:xfrm>
            <a:off x="8151480" y="2448360"/>
            <a:ext cx="740160" cy="514440"/>
          </a:xfrm>
          <a:prstGeom prst="roundRect">
            <a:avLst>
              <a:gd name="adj" fmla="val 16667"/>
            </a:avLst>
          </a:prstGeom>
          <a:solidFill>
            <a:srgbClr val="183A71"/>
          </a:solidFill>
          <a:ln>
            <a:solidFill>
              <a:srgbClr val="183A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nl-NL" sz="900" b="0" strike="noStrike" spc="-1">
                <a:solidFill>
                  <a:srgbClr val="FFFFFF"/>
                </a:solidFill>
                <a:latin typeface="Inter"/>
              </a:rPr>
              <a:t>Container</a:t>
            </a:r>
            <a:endParaRPr lang="nl-NL" sz="900" b="0" strike="noStrike" spc="-1">
              <a:latin typeface="Inter"/>
            </a:endParaRPr>
          </a:p>
        </p:txBody>
      </p:sp>
      <p:sp>
        <p:nvSpPr>
          <p:cNvPr id="420" name="Rechthoek: afgeronde hoeken 13"/>
          <p:cNvSpPr/>
          <p:nvPr/>
        </p:nvSpPr>
        <p:spPr>
          <a:xfrm>
            <a:off x="8977680" y="2448360"/>
            <a:ext cx="740160" cy="514440"/>
          </a:xfrm>
          <a:prstGeom prst="roundRect">
            <a:avLst>
              <a:gd name="adj" fmla="val 16667"/>
            </a:avLst>
          </a:prstGeom>
          <a:solidFill>
            <a:srgbClr val="183A71"/>
          </a:solidFill>
          <a:ln>
            <a:solidFill>
              <a:srgbClr val="183A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nl-NL" sz="900" b="0" strike="noStrike" spc="-1">
                <a:solidFill>
                  <a:srgbClr val="FFFFFF"/>
                </a:solidFill>
                <a:latin typeface="Inter"/>
              </a:rPr>
              <a:t>Container</a:t>
            </a:r>
            <a:endParaRPr lang="nl-NL" sz="900" b="0" strike="noStrike" spc="-1">
              <a:latin typeface="Inter"/>
            </a:endParaRPr>
          </a:p>
        </p:txBody>
      </p:sp>
      <p:sp>
        <p:nvSpPr>
          <p:cNvPr id="421" name="Rechthoek: afgeronde hoeken 14"/>
          <p:cNvSpPr/>
          <p:nvPr/>
        </p:nvSpPr>
        <p:spPr>
          <a:xfrm>
            <a:off x="9804240" y="2448360"/>
            <a:ext cx="740160" cy="514440"/>
          </a:xfrm>
          <a:prstGeom prst="roundRect">
            <a:avLst>
              <a:gd name="adj" fmla="val 16667"/>
            </a:avLst>
          </a:prstGeom>
          <a:solidFill>
            <a:srgbClr val="183A71"/>
          </a:solidFill>
          <a:ln>
            <a:solidFill>
              <a:srgbClr val="183A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nl-NL" sz="900" b="0" strike="noStrike" spc="-1">
                <a:solidFill>
                  <a:srgbClr val="FFFFFF"/>
                </a:solidFill>
                <a:latin typeface="Inter"/>
              </a:rPr>
              <a:t>Container</a:t>
            </a:r>
            <a:endParaRPr lang="nl-NL" sz="900" b="0" strike="noStrike" spc="-1">
              <a:latin typeface="Inter"/>
            </a:endParaRPr>
          </a:p>
        </p:txBody>
      </p:sp>
      <p:sp>
        <p:nvSpPr>
          <p:cNvPr id="422" name="Stroomdiagram: Verbindingslijn 15"/>
          <p:cNvSpPr/>
          <p:nvPr/>
        </p:nvSpPr>
        <p:spPr>
          <a:xfrm>
            <a:off x="1818360" y="2569680"/>
            <a:ext cx="1095120" cy="1095120"/>
          </a:xfrm>
          <a:prstGeom prst="flowChartConnector">
            <a:avLst/>
          </a:prstGeom>
          <a:solidFill>
            <a:srgbClr val="183A71"/>
          </a:solidFill>
          <a:ln>
            <a:solidFill>
              <a:srgbClr val="183A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nl-NL" sz="800" b="0" strike="noStrike" spc="-1" dirty="0">
                <a:solidFill>
                  <a:srgbClr val="FFFFFF"/>
                </a:solidFill>
                <a:latin typeface="Inter"/>
              </a:rPr>
              <a:t>VM1</a:t>
            </a:r>
            <a:endParaRPr lang="nl-NL" sz="800" b="0" strike="noStrike" spc="-1" dirty="0">
              <a:latin typeface="Inter"/>
            </a:endParaRPr>
          </a:p>
          <a:p>
            <a:pPr algn="ctr">
              <a:lnSpc>
                <a:spcPct val="100000"/>
              </a:lnSpc>
              <a:buNone/>
            </a:pPr>
            <a:r>
              <a:rPr lang="nl-NL" sz="800" b="0" strike="noStrike" spc="-1" dirty="0" err="1">
                <a:solidFill>
                  <a:srgbClr val="FFFFFF"/>
                </a:solidFill>
                <a:latin typeface="Inter"/>
              </a:rPr>
              <a:t>Guest</a:t>
            </a:r>
            <a:r>
              <a:rPr lang="nl-NL" sz="800" b="0" strike="noStrike" spc="-1" dirty="0">
                <a:solidFill>
                  <a:srgbClr val="FFFFFF"/>
                </a:solidFill>
                <a:latin typeface="Inter"/>
              </a:rPr>
              <a:t> OS: MS Windows</a:t>
            </a:r>
            <a:endParaRPr lang="nl-NL" sz="800" b="0" strike="noStrike" spc="-1" dirty="0">
              <a:latin typeface="Inter"/>
            </a:endParaRPr>
          </a:p>
        </p:txBody>
      </p:sp>
      <p:sp>
        <p:nvSpPr>
          <p:cNvPr id="423" name="Stroomdiagram: Verbindingslijn 16"/>
          <p:cNvSpPr/>
          <p:nvPr/>
        </p:nvSpPr>
        <p:spPr>
          <a:xfrm>
            <a:off x="3033000" y="2569680"/>
            <a:ext cx="1095120" cy="1095120"/>
          </a:xfrm>
          <a:prstGeom prst="flowChartConnector">
            <a:avLst/>
          </a:prstGeom>
          <a:solidFill>
            <a:srgbClr val="183A71"/>
          </a:solidFill>
          <a:ln>
            <a:solidFill>
              <a:srgbClr val="183A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nl-NL" sz="800" b="0" strike="noStrike" spc="-1">
                <a:solidFill>
                  <a:srgbClr val="FFFFFF"/>
                </a:solidFill>
                <a:latin typeface="Inter"/>
              </a:rPr>
              <a:t>VM1</a:t>
            </a:r>
            <a:endParaRPr lang="nl-NL" sz="800" b="0" strike="noStrike" spc="-1">
              <a:latin typeface="Inter"/>
            </a:endParaRPr>
          </a:p>
          <a:p>
            <a:pPr algn="ctr">
              <a:lnSpc>
                <a:spcPct val="100000"/>
              </a:lnSpc>
              <a:buNone/>
            </a:pPr>
            <a:r>
              <a:rPr lang="nl-NL" sz="800" b="0" strike="noStrike" spc="-1">
                <a:solidFill>
                  <a:srgbClr val="FFFFFF"/>
                </a:solidFill>
                <a:latin typeface="Inter"/>
              </a:rPr>
              <a:t>Guest OS: Linux</a:t>
            </a:r>
            <a:endParaRPr lang="nl-NL" sz="800" b="0" strike="noStrike" spc="-1">
              <a:latin typeface="Inter"/>
            </a:endParaRPr>
          </a:p>
        </p:txBody>
      </p:sp>
      <p:sp>
        <p:nvSpPr>
          <p:cNvPr id="424" name="Stroomdiagram: Verbindingslijn 17"/>
          <p:cNvSpPr/>
          <p:nvPr/>
        </p:nvSpPr>
        <p:spPr>
          <a:xfrm>
            <a:off x="4247640" y="2569680"/>
            <a:ext cx="1095120" cy="1095120"/>
          </a:xfrm>
          <a:prstGeom prst="flowChartConnector">
            <a:avLst/>
          </a:prstGeom>
          <a:solidFill>
            <a:srgbClr val="183A71"/>
          </a:solidFill>
          <a:ln>
            <a:solidFill>
              <a:srgbClr val="183A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nl-NL" sz="800" b="0" strike="noStrike" spc="-1">
                <a:solidFill>
                  <a:srgbClr val="FFFFFF"/>
                </a:solidFill>
                <a:latin typeface="Inter"/>
              </a:rPr>
              <a:t>VM1</a:t>
            </a:r>
            <a:endParaRPr lang="nl-NL" sz="800" b="0" strike="noStrike" spc="-1">
              <a:latin typeface="Inter"/>
            </a:endParaRPr>
          </a:p>
          <a:p>
            <a:pPr algn="ctr">
              <a:lnSpc>
                <a:spcPct val="100000"/>
              </a:lnSpc>
              <a:buNone/>
            </a:pPr>
            <a:r>
              <a:rPr lang="nl-NL" sz="800" b="0" strike="noStrike" spc="-1">
                <a:solidFill>
                  <a:srgbClr val="FFFFFF"/>
                </a:solidFill>
                <a:latin typeface="Inter"/>
              </a:rPr>
              <a:t>Guest OS: Unix</a:t>
            </a:r>
            <a:endParaRPr lang="nl-NL" sz="800" b="0" strike="noStrike" spc="-1">
              <a:latin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Tekstvak 4"/>
          <p:cNvSpPr/>
          <p:nvPr/>
        </p:nvSpPr>
        <p:spPr>
          <a:xfrm>
            <a:off x="405720" y="1850040"/>
            <a:ext cx="5134320" cy="7679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 dirty="0">
                <a:solidFill>
                  <a:srgbClr val="FFFFFF"/>
                </a:solidFill>
                <a:latin typeface="Inter"/>
              </a:rPr>
              <a:t>Demonstration!</a:t>
            </a:r>
            <a:endParaRPr lang="nl-NL" sz="4400" b="0" strike="noStrike" spc="-1" dirty="0">
              <a:latin typeface="Inter"/>
            </a:endParaRPr>
          </a:p>
        </p:txBody>
      </p:sp>
      <p:pic>
        <p:nvPicPr>
          <p:cNvPr id="426" name="Afbeelding 2" descr="Afbeelding met tekst, schermopname, Graphics, patroon&#10;&#10;Door AI gegenereerde inhoud is mogelijk onjuist."/>
          <p:cNvPicPr/>
          <p:nvPr/>
        </p:nvPicPr>
        <p:blipFill>
          <a:blip r:embed="rId2"/>
          <a:stretch/>
        </p:blipFill>
        <p:spPr>
          <a:xfrm>
            <a:off x="7669080" y="1522080"/>
            <a:ext cx="3813480" cy="3813480"/>
          </a:xfrm>
          <a:prstGeom prst="rect">
            <a:avLst/>
          </a:prstGeom>
          <a:ln w="0">
            <a:noFill/>
          </a:ln>
        </p:spPr>
      </p:pic>
      <p:sp>
        <p:nvSpPr>
          <p:cNvPr id="427" name="Tekstvak 3"/>
          <p:cNvSpPr/>
          <p:nvPr/>
        </p:nvSpPr>
        <p:spPr>
          <a:xfrm>
            <a:off x="7317720" y="5457960"/>
            <a:ext cx="4515480" cy="2293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nl-NL" sz="900" b="0" strike="noStrike" spc="-1" dirty="0">
                <a:solidFill>
                  <a:srgbClr val="FFFFFF"/>
                </a:solidFill>
                <a:latin typeface="Inter"/>
              </a:rPr>
              <a:t>https://github.com/adhendrikx/data-night-013-bridging-notebooks-and-databases</a:t>
            </a:r>
            <a:endParaRPr lang="nl-NL" sz="900" b="0" strike="noStrike" spc="-1" dirty="0">
              <a:latin typeface="Inter"/>
            </a:endParaRPr>
          </a:p>
        </p:txBody>
      </p:sp>
      <p:sp>
        <p:nvSpPr>
          <p:cNvPr id="428" name="Tekstvak 5"/>
          <p:cNvSpPr/>
          <p:nvPr/>
        </p:nvSpPr>
        <p:spPr>
          <a:xfrm>
            <a:off x="1028879" y="2687040"/>
            <a:ext cx="4054911" cy="21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>
              <a:lnSpc>
                <a:spcPct val="100000"/>
              </a:lnSpc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nl-NL" sz="2000" b="0" strike="noStrike" spc="-1" dirty="0">
                <a:solidFill>
                  <a:srgbClr val="FFFFFF"/>
                </a:solidFill>
                <a:latin typeface="Inter"/>
              </a:rPr>
              <a:t>Download </a:t>
            </a:r>
            <a:r>
              <a:rPr lang="nl-NL" sz="2000" b="0" strike="noStrike" spc="-1" dirty="0" err="1">
                <a:solidFill>
                  <a:srgbClr val="FFFFFF"/>
                </a:solidFill>
                <a:latin typeface="Inter"/>
              </a:rPr>
              <a:t>repository</a:t>
            </a:r>
            <a:r>
              <a:rPr lang="nl-NL" sz="2000" b="0" strike="noStrike" spc="-1" dirty="0">
                <a:solidFill>
                  <a:srgbClr val="FFFFFF"/>
                </a:solidFill>
                <a:latin typeface="Inter"/>
              </a:rPr>
              <a:t> </a:t>
            </a:r>
            <a:r>
              <a:rPr lang="nl-NL" sz="2000" b="0" strike="noStrike" spc="-1" dirty="0" err="1">
                <a:solidFill>
                  <a:srgbClr val="FFFFFF"/>
                </a:solidFill>
                <a:latin typeface="Inter"/>
              </a:rPr>
              <a:t>from</a:t>
            </a:r>
            <a:r>
              <a:rPr lang="nl-NL" sz="2000" b="0" strike="noStrike" spc="-1" dirty="0">
                <a:solidFill>
                  <a:srgbClr val="FFFFFF"/>
                </a:solidFill>
                <a:latin typeface="Inter"/>
              </a:rPr>
              <a:t> </a:t>
            </a:r>
            <a:r>
              <a:rPr lang="nl-NL" sz="2000" b="0" strike="noStrike" spc="-1" dirty="0" err="1">
                <a:solidFill>
                  <a:srgbClr val="FFFFFF"/>
                </a:solidFill>
                <a:latin typeface="Inter"/>
              </a:rPr>
              <a:t>github</a:t>
            </a:r>
            <a:endParaRPr lang="nl-NL" sz="2000" b="0" strike="noStrike" spc="-1" dirty="0">
              <a:latin typeface="Inter"/>
            </a:endParaRPr>
          </a:p>
          <a:p>
            <a:pPr marL="342900" indent="-342900">
              <a:lnSpc>
                <a:spcPct val="100000"/>
              </a:lnSpc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nl-NL" sz="2000" b="0" strike="noStrike" spc="-1" dirty="0">
                <a:solidFill>
                  <a:srgbClr val="FFFFFF"/>
                </a:solidFill>
                <a:latin typeface="Inter"/>
              </a:rPr>
              <a:t>Setup Docker</a:t>
            </a:r>
            <a:br>
              <a:rPr sz="2000" dirty="0">
                <a:latin typeface="Inter"/>
              </a:rPr>
            </a:br>
            <a:r>
              <a:rPr lang="nl-NL" sz="1200" b="0" strike="noStrike" spc="-1" dirty="0">
                <a:solidFill>
                  <a:srgbClr val="FFFFFF"/>
                </a:solidFill>
                <a:latin typeface="Inter"/>
              </a:rPr>
              <a:t>(incl. </a:t>
            </a:r>
            <a:r>
              <a:rPr lang="nl-NL" sz="1200" b="0" strike="noStrike" spc="-1" dirty="0" err="1">
                <a:solidFill>
                  <a:srgbClr val="FFFFFF"/>
                </a:solidFill>
                <a:latin typeface="Inter"/>
              </a:rPr>
              <a:t>PostgreSQL</a:t>
            </a:r>
            <a:r>
              <a:rPr lang="nl-NL" sz="1200" b="0" strike="noStrike" spc="-1" dirty="0">
                <a:solidFill>
                  <a:srgbClr val="FFFFFF"/>
                </a:solidFill>
                <a:latin typeface="Inter"/>
              </a:rPr>
              <a:t> database &amp; </a:t>
            </a:r>
            <a:r>
              <a:rPr lang="nl-NL" sz="1200" b="0" strike="noStrike" spc="-1" dirty="0" err="1">
                <a:solidFill>
                  <a:srgbClr val="FFFFFF"/>
                </a:solidFill>
                <a:latin typeface="Inter"/>
              </a:rPr>
              <a:t>Grafana</a:t>
            </a:r>
            <a:r>
              <a:rPr lang="nl-NL" sz="1200" b="0" strike="noStrike" spc="-1" dirty="0">
                <a:solidFill>
                  <a:srgbClr val="FFFFFF"/>
                </a:solidFill>
                <a:latin typeface="Inter"/>
              </a:rPr>
              <a:t>)</a:t>
            </a:r>
            <a:endParaRPr lang="nl-NL" sz="1200" b="0" strike="noStrike" spc="-1" dirty="0">
              <a:latin typeface="Inter"/>
            </a:endParaRPr>
          </a:p>
          <a:p>
            <a:pPr marL="342900" indent="-342900">
              <a:lnSpc>
                <a:spcPct val="100000"/>
              </a:lnSpc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nl-NL" sz="2000" b="0" strike="noStrike" spc="-1" dirty="0">
                <a:solidFill>
                  <a:srgbClr val="FFFFFF"/>
                </a:solidFill>
                <a:latin typeface="Inter"/>
              </a:rPr>
              <a:t>Setup </a:t>
            </a:r>
            <a:r>
              <a:rPr lang="nl-NL" sz="2000" b="0" strike="noStrike" spc="-1" dirty="0" err="1">
                <a:solidFill>
                  <a:srgbClr val="FFFFFF"/>
                </a:solidFill>
                <a:latin typeface="Inter"/>
              </a:rPr>
              <a:t>Jupyter</a:t>
            </a:r>
            <a:r>
              <a:rPr lang="nl-NL" sz="2000" b="0" strike="noStrike" spc="-1" dirty="0">
                <a:solidFill>
                  <a:srgbClr val="FFFFFF"/>
                </a:solidFill>
                <a:latin typeface="Inter"/>
              </a:rPr>
              <a:t> notebook</a:t>
            </a:r>
            <a:br>
              <a:rPr sz="2000" dirty="0">
                <a:latin typeface="Inter"/>
              </a:rPr>
            </a:br>
            <a:r>
              <a:rPr lang="nl-NL" sz="1200" b="0" strike="noStrike" spc="-1" dirty="0">
                <a:solidFill>
                  <a:srgbClr val="FFFFFF"/>
                </a:solidFill>
                <a:latin typeface="Inter"/>
              </a:rPr>
              <a:t>(virtual environment)</a:t>
            </a:r>
            <a:endParaRPr lang="nl-NL" sz="1200" b="0" strike="noStrike" spc="-1" dirty="0">
              <a:latin typeface="Inter"/>
            </a:endParaRPr>
          </a:p>
          <a:p>
            <a:pPr marL="342900" indent="-342900">
              <a:lnSpc>
                <a:spcPct val="100000"/>
              </a:lnSpc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nl-NL" sz="2000" b="0" strike="noStrike" spc="-1" dirty="0">
                <a:solidFill>
                  <a:srgbClr val="FFFFFF"/>
                </a:solidFill>
                <a:latin typeface="Inter"/>
              </a:rPr>
              <a:t>Import antenneregister data</a:t>
            </a:r>
            <a:br>
              <a:rPr sz="2000" dirty="0">
                <a:latin typeface="Inter"/>
              </a:rPr>
            </a:br>
            <a:r>
              <a:rPr lang="nl-NL" sz="1200" b="0" strike="noStrike" spc="-1" dirty="0">
                <a:solidFill>
                  <a:srgbClr val="FFFFFF"/>
                </a:solidFill>
                <a:latin typeface="Inter"/>
              </a:rPr>
              <a:t>(via </a:t>
            </a:r>
            <a:r>
              <a:rPr lang="nl-NL" sz="1200" b="0" strike="noStrike" spc="-1" dirty="0" err="1">
                <a:solidFill>
                  <a:srgbClr val="FFFFFF"/>
                </a:solidFill>
                <a:latin typeface="Inter"/>
              </a:rPr>
              <a:t>pandas</a:t>
            </a:r>
            <a:r>
              <a:rPr lang="nl-NL" sz="1200" b="0" strike="noStrike" spc="-1" dirty="0">
                <a:solidFill>
                  <a:srgbClr val="FFFFFF"/>
                </a:solidFill>
                <a:latin typeface="Inter"/>
              </a:rPr>
              <a:t> dataframe </a:t>
            </a:r>
            <a:r>
              <a:rPr lang="nl-NL" sz="1200" b="0" strike="noStrike" spc="-1" dirty="0" err="1">
                <a:solidFill>
                  <a:srgbClr val="FFFFFF"/>
                </a:solidFill>
                <a:latin typeface="Inter"/>
              </a:rPr>
              <a:t>and</a:t>
            </a:r>
            <a:r>
              <a:rPr lang="nl-NL" sz="1200" b="0" strike="noStrike" spc="-1" dirty="0">
                <a:solidFill>
                  <a:srgbClr val="FFFFFF"/>
                </a:solidFill>
                <a:latin typeface="Inter"/>
              </a:rPr>
              <a:t> via SQL)</a:t>
            </a:r>
            <a:endParaRPr lang="nl-NL" sz="1200" b="0" strike="noStrike" spc="-1" dirty="0">
              <a:latin typeface="Inter"/>
            </a:endParaRPr>
          </a:p>
          <a:p>
            <a:pPr marL="342900" indent="-342900">
              <a:lnSpc>
                <a:spcPct val="100000"/>
              </a:lnSpc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nl-NL" sz="2000" b="0" strike="noStrike" spc="-1" dirty="0">
                <a:solidFill>
                  <a:srgbClr val="FFFFFF"/>
                </a:solidFill>
                <a:latin typeface="Inter"/>
              </a:rPr>
              <a:t>Show data in </a:t>
            </a:r>
            <a:r>
              <a:rPr lang="nl-NL" sz="2000" b="0" strike="noStrike" spc="-1" dirty="0" err="1">
                <a:solidFill>
                  <a:srgbClr val="FFFFFF"/>
                </a:solidFill>
                <a:latin typeface="Inter"/>
              </a:rPr>
              <a:t>Grafana</a:t>
            </a:r>
            <a:r>
              <a:rPr lang="nl-NL" sz="2000" b="0" strike="noStrike" spc="-1" dirty="0">
                <a:solidFill>
                  <a:srgbClr val="FFFFFF"/>
                </a:solidFill>
                <a:latin typeface="Inter"/>
              </a:rPr>
              <a:t> dashboard</a:t>
            </a:r>
            <a:endParaRPr lang="nl-NL" sz="2000" b="0" strike="noStrike" spc="-1" dirty="0">
              <a:latin typeface="Inte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Tekstvak 2"/>
          <p:cNvSpPr/>
          <p:nvPr/>
        </p:nvSpPr>
        <p:spPr>
          <a:xfrm>
            <a:off x="4933380" y="4596768"/>
            <a:ext cx="2325240" cy="106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nl-NL" sz="3200" b="0" strike="noStrike" spc="-1" dirty="0" err="1">
                <a:solidFill>
                  <a:srgbClr val="FFFFFF"/>
                </a:solidFill>
                <a:latin typeface="Aptos"/>
              </a:rPr>
              <a:t>Questions</a:t>
            </a:r>
            <a:r>
              <a:rPr lang="nl-NL" sz="3200" b="0" strike="noStrike" spc="-1" dirty="0">
                <a:solidFill>
                  <a:srgbClr val="FFFFFF"/>
                </a:solidFill>
                <a:latin typeface="Aptos"/>
              </a:rPr>
              <a:t>?</a:t>
            </a:r>
            <a:endParaRPr lang="nl-NL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Tekstvak 1"/>
          <p:cNvSpPr/>
          <p:nvPr/>
        </p:nvSpPr>
        <p:spPr>
          <a:xfrm>
            <a:off x="4442760" y="1007280"/>
            <a:ext cx="3305880" cy="7372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nl-NL" sz="1400" b="0" strike="noStrike" spc="-1" dirty="0">
                <a:solidFill>
                  <a:srgbClr val="FFFFFF"/>
                </a:solidFill>
                <a:latin typeface="Inter"/>
              </a:rPr>
              <a:t>Contact me in case of </a:t>
            </a:r>
            <a:endParaRPr lang="nl-NL" sz="1400" b="0" strike="noStrike" spc="-1" dirty="0">
              <a:latin typeface="Inter"/>
            </a:endParaRPr>
          </a:p>
          <a:p>
            <a:pPr algn="ctr">
              <a:lnSpc>
                <a:spcPct val="100000"/>
              </a:lnSpc>
              <a:buNone/>
            </a:pPr>
            <a:r>
              <a:rPr lang="nl-NL" sz="1400" b="0" strike="noStrike" spc="-1" dirty="0" err="1">
                <a:solidFill>
                  <a:srgbClr val="FFFFFF"/>
                </a:solidFill>
                <a:latin typeface="Inter"/>
              </a:rPr>
              <a:t>any</a:t>
            </a:r>
            <a:r>
              <a:rPr lang="nl-NL" sz="1400" b="0" strike="noStrike" spc="-1" dirty="0">
                <a:solidFill>
                  <a:srgbClr val="FFFFFF"/>
                </a:solidFill>
                <a:latin typeface="Inter"/>
              </a:rPr>
              <a:t> </a:t>
            </a:r>
            <a:r>
              <a:rPr lang="nl-NL" sz="1400" b="0" strike="noStrike" spc="-1" dirty="0" err="1">
                <a:solidFill>
                  <a:srgbClr val="FFFFFF"/>
                </a:solidFill>
                <a:latin typeface="Inter"/>
              </a:rPr>
              <a:t>questions</a:t>
            </a:r>
            <a:r>
              <a:rPr lang="nl-NL" sz="1400" b="0" strike="noStrike" spc="-1" dirty="0">
                <a:solidFill>
                  <a:srgbClr val="FFFFFF"/>
                </a:solidFill>
                <a:latin typeface="Inter"/>
              </a:rPr>
              <a:t>, </a:t>
            </a:r>
            <a:r>
              <a:rPr lang="nl-NL" sz="1400" b="0" strike="noStrike" spc="-1" dirty="0" err="1">
                <a:solidFill>
                  <a:srgbClr val="FFFFFF"/>
                </a:solidFill>
                <a:latin typeface="Inter"/>
              </a:rPr>
              <a:t>remarks</a:t>
            </a:r>
            <a:r>
              <a:rPr lang="nl-NL" sz="1400" b="0" strike="noStrike" spc="-1" dirty="0">
                <a:solidFill>
                  <a:srgbClr val="FFFFFF"/>
                </a:solidFill>
                <a:latin typeface="Inter"/>
              </a:rPr>
              <a:t>, </a:t>
            </a:r>
            <a:r>
              <a:rPr lang="nl-NL" sz="1400" b="0" strike="noStrike" spc="-1" dirty="0" err="1">
                <a:solidFill>
                  <a:srgbClr val="FFFFFF"/>
                </a:solidFill>
                <a:latin typeface="Inter"/>
              </a:rPr>
              <a:t>ideas</a:t>
            </a:r>
            <a:r>
              <a:rPr lang="nl-NL" sz="1400" b="0" strike="noStrike" spc="-1" dirty="0">
                <a:solidFill>
                  <a:srgbClr val="FFFFFF"/>
                </a:solidFill>
                <a:latin typeface="Inter"/>
              </a:rPr>
              <a:t>, etc.</a:t>
            </a:r>
            <a:endParaRPr lang="nl-NL" sz="1400" b="0" strike="noStrike" spc="-1" dirty="0">
              <a:latin typeface="Inter"/>
            </a:endParaRPr>
          </a:p>
          <a:p>
            <a:pPr algn="ctr">
              <a:lnSpc>
                <a:spcPct val="100000"/>
              </a:lnSpc>
              <a:buNone/>
            </a:pPr>
            <a:r>
              <a:rPr lang="nl-NL" sz="1400" b="0" strike="noStrike" spc="-1" dirty="0">
                <a:solidFill>
                  <a:srgbClr val="FFFFFF"/>
                </a:solidFill>
                <a:latin typeface="Inter"/>
              </a:rPr>
              <a:t>ad.hendrikx@1optic.io</a:t>
            </a:r>
            <a:endParaRPr lang="nl-NL" sz="1400" b="0" strike="noStrike" spc="-1" dirty="0">
              <a:latin typeface="Inter"/>
            </a:endParaRPr>
          </a:p>
        </p:txBody>
      </p:sp>
      <p:pic>
        <p:nvPicPr>
          <p:cNvPr id="431" name="Afbeelding 3" descr="Afbeelding met tekst, schermopname, Graphics, patroon&#10;&#10;Door AI gegenereerde inhoud is mogelijk onjuist."/>
          <p:cNvPicPr/>
          <p:nvPr/>
        </p:nvPicPr>
        <p:blipFill>
          <a:blip r:embed="rId2"/>
          <a:stretch/>
        </p:blipFill>
        <p:spPr>
          <a:xfrm>
            <a:off x="4480920" y="1814040"/>
            <a:ext cx="3229920" cy="3229920"/>
          </a:xfrm>
          <a:prstGeom prst="rect">
            <a:avLst/>
          </a:prstGeom>
          <a:ln w="0">
            <a:noFill/>
          </a:ln>
        </p:spPr>
      </p:pic>
      <p:sp>
        <p:nvSpPr>
          <p:cNvPr id="432" name="Tekstvak 4"/>
          <p:cNvSpPr/>
          <p:nvPr/>
        </p:nvSpPr>
        <p:spPr>
          <a:xfrm>
            <a:off x="4442760" y="5254560"/>
            <a:ext cx="3305880" cy="7372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nl-NL" sz="1400" b="0" strike="noStrike" spc="-1">
                <a:solidFill>
                  <a:srgbClr val="FFFFFF"/>
                </a:solidFill>
                <a:latin typeface="Inter"/>
              </a:rPr>
              <a:t>Or visit us:</a:t>
            </a:r>
            <a:endParaRPr lang="nl-NL" sz="1400" b="0" strike="noStrike" spc="-1">
              <a:latin typeface="Inter"/>
            </a:endParaRPr>
          </a:p>
          <a:p>
            <a:pPr algn="ctr">
              <a:lnSpc>
                <a:spcPct val="100000"/>
              </a:lnSpc>
              <a:buNone/>
            </a:pPr>
            <a:r>
              <a:rPr lang="nl-NL" sz="1400" b="0" strike="noStrike" spc="-1">
                <a:solidFill>
                  <a:srgbClr val="FFFFFF"/>
                </a:solidFill>
                <a:latin typeface="Inter"/>
              </a:rPr>
              <a:t>Spoorlaan 21K</a:t>
            </a:r>
            <a:br>
              <a:rPr sz="1400">
                <a:latin typeface="Inter"/>
              </a:rPr>
            </a:br>
            <a:r>
              <a:rPr lang="nl-NL" sz="1400" b="0" strike="noStrike" spc="-1">
                <a:solidFill>
                  <a:srgbClr val="FFFFFF"/>
                </a:solidFill>
                <a:latin typeface="Inter"/>
              </a:rPr>
              <a:t>5038 CB, Tilburg</a:t>
            </a:r>
            <a:endParaRPr lang="nl-NL" sz="1400" b="0" strike="noStrike" spc="-1">
              <a:latin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50921"/>
      </a:dk2>
      <a:lt2>
        <a:srgbClr val="E8E8E8"/>
      </a:lt2>
      <a:accent1>
        <a:srgbClr val="233D6C"/>
      </a:accent1>
      <a:accent2>
        <a:srgbClr val="40E3C4"/>
      </a:accent2>
      <a:accent3>
        <a:srgbClr val="17376E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50921"/>
      </a:dk2>
      <a:lt2>
        <a:srgbClr val="E8E8E8"/>
      </a:lt2>
      <a:accent1>
        <a:srgbClr val="233D6C"/>
      </a:accent1>
      <a:accent2>
        <a:srgbClr val="40E3C4"/>
      </a:accent2>
      <a:accent3>
        <a:srgbClr val="17376E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50921"/>
      </a:dk2>
      <a:lt2>
        <a:srgbClr val="E8E8E8"/>
      </a:lt2>
      <a:accent1>
        <a:srgbClr val="233D6C"/>
      </a:accent1>
      <a:accent2>
        <a:srgbClr val="40E3C4"/>
      </a:accent2>
      <a:accent3>
        <a:srgbClr val="17376E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50921"/>
      </a:dk2>
      <a:lt2>
        <a:srgbClr val="E8E8E8"/>
      </a:lt2>
      <a:accent1>
        <a:srgbClr val="233D6C"/>
      </a:accent1>
      <a:accent2>
        <a:srgbClr val="40E3C4"/>
      </a:accent2>
      <a:accent3>
        <a:srgbClr val="17376E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50921"/>
      </a:dk2>
      <a:lt2>
        <a:srgbClr val="E8E8E8"/>
      </a:lt2>
      <a:accent1>
        <a:srgbClr val="233D6C"/>
      </a:accent1>
      <a:accent2>
        <a:srgbClr val="40E3C4"/>
      </a:accent2>
      <a:accent3>
        <a:srgbClr val="17376E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50921"/>
      </a:dk2>
      <a:lt2>
        <a:srgbClr val="E8E8E8"/>
      </a:lt2>
      <a:accent1>
        <a:srgbClr val="233D6C"/>
      </a:accent1>
      <a:accent2>
        <a:srgbClr val="40E3C4"/>
      </a:accent2>
      <a:accent3>
        <a:srgbClr val="17376E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50921"/>
      </a:dk2>
      <a:lt2>
        <a:srgbClr val="E8E8E8"/>
      </a:lt2>
      <a:accent1>
        <a:srgbClr val="233D6C"/>
      </a:accent1>
      <a:accent2>
        <a:srgbClr val="40E3C4"/>
      </a:accent2>
      <a:accent3>
        <a:srgbClr val="17376E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50921"/>
      </a:dk2>
      <a:lt2>
        <a:srgbClr val="E8E8E8"/>
      </a:lt2>
      <a:accent1>
        <a:srgbClr val="233D6C"/>
      </a:accent1>
      <a:accent2>
        <a:srgbClr val="40E3C4"/>
      </a:accent2>
      <a:accent3>
        <a:srgbClr val="17376E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50921"/>
      </a:dk2>
      <a:lt2>
        <a:srgbClr val="E8E8E8"/>
      </a:lt2>
      <a:accent1>
        <a:srgbClr val="233D6C"/>
      </a:accent1>
      <a:accent2>
        <a:srgbClr val="40E3C4"/>
      </a:accent2>
      <a:accent3>
        <a:srgbClr val="17376E"/>
      </a:accent3>
      <a:accent4>
        <a:srgbClr val="0F9ED5"/>
      </a:accent4>
      <a:accent5>
        <a:srgbClr val="81DDFA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346</TotalTime>
  <Words>284</Words>
  <Application>Microsoft Office PowerPoint</Application>
  <PresentationFormat>Breedbeeld</PresentationFormat>
  <Paragraphs>51</Paragraphs>
  <Slides>9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8</vt:i4>
      </vt:variant>
      <vt:variant>
        <vt:lpstr>Thema</vt:lpstr>
      </vt:variant>
      <vt:variant>
        <vt:i4>9</vt:i4>
      </vt:variant>
      <vt:variant>
        <vt:lpstr>Diatitels</vt:lpstr>
      </vt:variant>
      <vt:variant>
        <vt:i4>9</vt:i4>
      </vt:variant>
    </vt:vector>
  </HeadingPairs>
  <TitlesOfParts>
    <vt:vector size="26" baseType="lpstr">
      <vt:lpstr>Aptos</vt:lpstr>
      <vt:lpstr>Arial</vt:lpstr>
      <vt:lpstr>Inter</vt:lpstr>
      <vt:lpstr>Inter Medium</vt:lpstr>
      <vt:lpstr>Inter SemiBold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PowerPoint-presentatie</vt:lpstr>
      <vt:lpstr>Agenda</vt:lpstr>
      <vt:lpstr>PowerPoint-presentatie</vt:lpstr>
      <vt:lpstr>PowerPoint-presentatie</vt:lpstr>
      <vt:lpstr>PowerPoint-presentatie</vt:lpstr>
      <vt:lpstr>Virtual Machines</vt:lpstr>
      <vt:lpstr>PowerPoint-presentatie</vt:lpstr>
      <vt:lpstr>PowerPoint-presentatie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Mathijn Vermeer</dc:creator>
  <dc:description/>
  <cp:lastModifiedBy>Ad Hendrikx | IT Security Tilburg</cp:lastModifiedBy>
  <cp:revision>29</cp:revision>
  <dcterms:created xsi:type="dcterms:W3CDTF">2024-10-23T06:51:33Z</dcterms:created>
  <dcterms:modified xsi:type="dcterms:W3CDTF">2025-11-18T11:13:02Z</dcterms:modified>
  <dc:language>nl-NL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1</vt:i4>
  </property>
  <property fmtid="{D5CDD505-2E9C-101B-9397-08002B2CF9AE}" pid="3" name="PresentationFormat">
    <vt:lpwstr>Breedbeeld</vt:lpwstr>
  </property>
  <property fmtid="{D5CDD505-2E9C-101B-9397-08002B2CF9AE}" pid="4" name="Slides">
    <vt:i4>19</vt:i4>
  </property>
</Properties>
</file>